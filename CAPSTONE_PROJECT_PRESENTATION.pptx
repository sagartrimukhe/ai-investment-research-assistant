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IIT ROORKEE &amp; FUTURENSE JOINT CERTIFICATION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THEME 15 (FINANCE DOMAIN)</a:t>
            </a:r>
          </a:p>
          <a:p>
            <a:pPr>
              <a:spcBef>
                <a:spcPts val="6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400"/>
              </a:spcBef>
              <a:defRPr sz="16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54864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8FAFC"/>
                </a:solidFill>
                <a:latin typeface="Helvetica"/>
              </a:defRPr>
            </a:pPr>
            <a:r>
              <a:t>CORE ARCHITECTURE: LangGraph Stateful DAG  •  ChromaDB Vector RAG  •  Gemini 2.5 Flash  •  Streamlit UI  •  AWS Cloud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66344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274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EXECUTIVE OVERVIEW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Executive Summary: The Institutional Research Problem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manual, error-prone equity research into an autonomous, audited, stateful multi-agent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70%+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Analyst Time Lost on Filing Extraction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Manual parsing of 100+ page SEC 10-K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60.5%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Latency Reduction via Fan-Out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From 32.4s sequential down to 12.8s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Deterministic HITL Compliance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Mandatory human review gate before report 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Wall Street Dilemma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Massive Document Complexity: </a:t>
            </a:r>
            <a:r>
              <a:rPr sz="1000">
                <a:solidFill>
                  <a:srgbClr val="F8FAFC"/>
                </a:solidFill>
              </a:rPr>
              <a:t>Annual SEC 10-K filings contain 60–150 pages of dense legal and financial tables.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Cognitive Overload: </a:t>
            </a:r>
            <a:r>
              <a:rPr sz="1000">
                <a:solidFill>
                  <a:srgbClr val="F8FAFC"/>
                </a:solidFill>
              </a:rPr>
              <a:t>Institutional analysts spend the vast majority of their hours manually copying balance sheet metrics rather than evaluating investment hypotheses.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Chatbot Hallucinations: </a:t>
            </a:r>
            <a:r>
              <a:rPr sz="1000">
                <a:solidFill>
                  <a:srgbClr val="F8FAFC"/>
                </a:solidFill>
              </a:rPr>
              <a:t>Generic conversational LLM tools hallucinate numbers, omit negative disclosures, and cannot maintain multi-step deterministic audit trails.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No Compliance Oversight: </a:t>
            </a:r>
            <a:r>
              <a:rPr sz="1000">
                <a:solidFill>
                  <a:srgbClr val="F8FAFC"/>
                </a:solidFill>
              </a:rPr>
              <a:t>Raw automated tools output unsupervised advice without required compliance sign-offs.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Our Autonomous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Deterministic LangGraph DAG: </a:t>
            </a:r>
            <a:r>
              <a:rPr sz="1000">
                <a:solidFill>
                  <a:srgbClr val="F8FAFC"/>
                </a:solidFill>
              </a:rPr>
              <a:t>Stateful directed graph replacing unpredictable conversational loops with rigid mathematical guarantees.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Parallel Multi-Agent Fan-Out: </a:t>
            </a:r>
            <a:r>
              <a:rPr sz="1000">
                <a:solidFill>
                  <a:srgbClr val="F8FAFC"/>
                </a:solidFill>
              </a:rPr>
              <a:t>Three specialized agents execute concurrently across fundamentals, sentiment, and relative valuation.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Hybrid RAG + Telemetry: </a:t>
            </a:r>
            <a:r>
              <a:rPr sz="1000">
                <a:solidFill>
                  <a:srgbClr val="F8FAFC"/>
                </a:solidFill>
              </a:rPr>
              <a:t>Combines ChromaDB vector retrieval of audited 10-K tables with real-time yfinance market feeds.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Human-in-the-Loop Gate: </a:t>
            </a:r>
            <a:r>
              <a:rPr sz="1000">
                <a:solidFill>
                  <a:srgbClr val="F8FAFC"/>
                </a:solidFill>
              </a:rPr>
              <a:t>Native interrupt() protocol halts execution, allowing senior analysts to edit theses and certify memorandums.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Layered Decoupled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Modular 4-tier separation ensuring resilience, isolated testing, and cloud scalability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LAYER 1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Streamlit Reactive UI (app/main.py)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Interactive 3-Tab Analyst Interface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Real-Time Node Execution Streaming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Approval Form &amp; Thesis Editor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Markdown Export &amp; AWS S3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8B5CF6"/>
                </a:solidFill>
              </a:defRPr>
            </a:pPr>
            <a:r>
              <a:t>LAYER 2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Orchestration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LangGraph Stateful DAG Engine (workflow_service.py)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State TypedDict with Custom Reducers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Parallel Fan-Out Dispatching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interrupt() &amp; Command(resume=...)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MemorySaver Thread State Checkpointing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LAYER 3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Agent Intelligence Tier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6 Specialized Multi-Agent Nodes (app/agents/)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Router Node (Symbol Sanitization)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Market Research (10-K RAG Extraction)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Trend Analysis (Sentiment Scoring)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Comparative Valuation (Peer Telemetry)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Summary Synthesis (CIO Recommendation)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0284C7"/>
                </a:solidFill>
              </a:defRPr>
            </a:pPr>
            <a:r>
              <a:t>LAYER 4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Data &amp; Infrastructure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ChromaDB, Gemini, AWS EC2, S3, Docker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ChromaDB Vector Store (Metadata Hard Filtering)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Google Gemini 2.5 Flash / Embeddings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yfinance Live Market Data Engine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AWS EC2 t3.medium + 2 GB Swap + S3 Cloud Archival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MULTI-AGENT ORCHESTRATION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Why LangGraph DAG Over Conversational Chat Loops?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The core architectural breakthrough that guaranteed determinism, eliminated hallucination loops, and passed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❌ Standard Conversational Multi-Agent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Circular Debates &amp; Non-Termination: </a:t>
            </a:r>
            <a:r>
              <a:rPr sz="950">
                <a:solidFill>
                  <a:srgbClr val="F8FAFC"/>
                </a:solidFill>
              </a:rPr>
              <a:t>Agents exchange free-text messages, often looping indefinitely debating minor assumptions and blowing LLM context budgets.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No Execution Determinism: </a:t>
            </a:r>
            <a:r>
              <a:rPr sz="950">
                <a:solidFill>
                  <a:srgbClr val="F8FAFC"/>
                </a:solidFill>
              </a:rPr>
              <a:t>Execution order fluctuates unpredictably based on LLM whims. Essential steps like quantitative valuation are often skipped.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Unstructured String Clashing: </a:t>
            </a:r>
            <a:r>
              <a:rPr sz="950">
                <a:solidFill>
                  <a:srgbClr val="F8FAFC"/>
                </a:solidFill>
              </a:rPr>
              <a:t>Passing unvalidated markdown blobs causes severe hallucination, dropped decimal values, and conflicting metrics.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Impossible Compliance Auditing: </a:t>
            </a:r>
            <a:r>
              <a:rPr sz="950">
                <a:solidFill>
                  <a:srgbClr val="F8FAFC"/>
                </a:solidFill>
              </a:rPr>
              <a:t>No formal checkpointing or programmatic gate to halt execution for mandatory regulatory sign-off.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High Cost &amp; Free-Tier Quota Exhaustion: </a:t>
            </a:r>
            <a:r>
              <a:rPr sz="950">
                <a:solidFill>
                  <a:srgbClr val="F8FAFC"/>
                </a:solidFill>
              </a:rPr>
              <a:t>Uncontrolled turn-taking triggers exponential API calls, instantly tripping Gemini 15 RPM / 100 RPM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✅ Our Compiled LangGraph Stateful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Deterministic State Topology: </a:t>
            </a:r>
            <a:r>
              <a:rPr sz="950">
                <a:solidFill>
                  <a:srgbClr val="F8FAFC"/>
                </a:solidFill>
              </a:rPr>
              <a:t>Graph compiled as a rigid Directed Acyclic Graph (DAG) with exact conditional edges and deterministic transitions.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Strongly Typed State Channels: </a:t>
            </a:r>
            <a:r>
              <a:rPr sz="950">
                <a:solidFill>
                  <a:srgbClr val="F8FAFC"/>
                </a:solidFill>
              </a:rPr>
              <a:t>Global AgentState schema strictly typed with Pydantic models. Decimal figures, tickers, and ratings cannot corrupt.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Controlled Parallel Fan-Out: </a:t>
            </a:r>
            <a:r>
              <a:rPr sz="950">
                <a:solidFill>
                  <a:srgbClr val="F8FAFC"/>
                </a:solidFill>
              </a:rPr>
              <a:t>LangGraph dispatches Market Research, Trend, and Valuation simultaneously, synchronizing state before CIO synthesis.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Built-In HITL Interrupt Engine: </a:t>
            </a:r>
            <a:r>
              <a:rPr sz="950">
                <a:solidFill>
                  <a:srgbClr val="F8FAFC"/>
                </a:solidFill>
              </a:rPr>
              <a:t>langgraph.types.interrupt halts the graph, serializes state to thread memory, and waits indefinitely for human authorization.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Production Telemetry &amp; Checkpointing: </a:t>
            </a:r>
            <a:r>
              <a:rPr sz="950">
                <a:solidFill>
                  <a:srgbClr val="F8FAFC"/>
                </a:solidFill>
              </a:rPr>
              <a:t>Every node update is checkpointed to MemorySaver, enabling execution replay, thread resuming, and full compliance audit trails.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Parallel Fan-Out &amp; Custom State Reducers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Engineering sub-15s response times without state collisions or race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6692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Concurrency Engineering Breakthrough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Sequential Bottleneck (32.4s): </a:t>
            </a:r>
            <a:r>
              <a:rPr sz="950">
                <a:solidFill>
                  <a:srgbClr val="F8FAFC"/>
                </a:solidFill>
              </a:rPr>
              <a:t>Initially, running Market Research (10.2s) -&gt; Trend Analysis (8.4s) -&gt; Comparative Valuation (7.6s) sequentially took over 32 seconds, degrading the analyst experience.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Parallel Fan-Out Dispatch: </a:t>
            </a:r>
            <a:r>
              <a:rPr sz="950">
                <a:solidFill>
                  <a:srgbClr val="F8FAFC"/>
                </a:solidFill>
              </a:rPr>
              <a:t>By structuring the DAG to branch from router simultaneously into market_research, trend_analysis, and comparative_analysis, all three agents execute asynchronously.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Fan-In Collision Bug: </a:t>
            </a:r>
            <a:r>
              <a:rPr sz="950">
                <a:solidFill>
                  <a:srgbClr val="F8FAFC"/>
                </a:solidFill>
              </a:rPr>
              <a:t>When three concurrent tasks return to the state graph at the same millisecond, LangGraph's default dictionary updater raises InvalidUpdateError due to concurrent write collisions on shared keys.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Custom Reducer Fix: </a:t>
            </a:r>
            <a:r>
              <a:rPr sz="950">
                <a:solidFill>
                  <a:srgbClr val="F8FAFC"/>
                </a:solidFill>
              </a:rPr>
              <a:t>Implemented custom channel reducers (_keep_latest) using Annotated[Optional[T], _keep_latest]. Reducer safely resolves competing parallel writes without data loss.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Quantified Performance Gain: </a:t>
            </a:r>
            <a:r>
              <a:rPr sz="950">
                <a:solidFill>
                  <a:srgbClr val="F8FAFC"/>
                </a:solidFill>
              </a:rPr>
              <a:t>End-to-end execution dropped to 12.8s — a verified 60.5% speedup with 100% state channel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21945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DAG Concurrency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1168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Courier New"/>
              </a:defRPr>
            </a:pPr>
            <a:r>
              <a:t>                 ┌──► [Market Research Agent] ──┐</a:t>
            </a:r>
            <a:br/>
            <a:r>
              <a:t>[START] ──► [Router] ──┼──► [Trend Analysis Agent]  ──┼──► [Summary Synthesis]</a:t>
            </a:r>
            <a:br/>
            <a:r>
              <a:t>                 └──► [Comparative Valuation] ──┘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754880" cy="2331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Custom Channel Reducer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def _keep_latest(current: T, new_val: T) -&gt; T:</a:t>
            </a:r>
            <a:br/>
            <a:r>
              <a:t>    '''Custom LangGraph state channel reducer.</a:t>
            </a:r>
            <a:br/>
            <a:r>
              <a:t>    Resolves concurrent parallel fan-in branch writes.'''</a:t>
            </a:r>
            <a:br/>
            <a:r>
              <a:t>    return new_val if new_val is not None else current</a:t>
            </a:r>
            <a:br/>
            <a:br/>
            <a:r>
              <a:t>class AgentState(TypedDict):</a:t>
            </a:r>
            <a:br/>
            <a:r>
              <a:t>    market_research: Annotated[Optional[Dict], _keep_latest]</a:t>
            </a:r>
            <a:br/>
            <a:r>
              <a:t>    trend_analysis: Annotated[Optional[Dict], _keep_latest]</a:t>
            </a:r>
            <a:br/>
            <a:r>
              <a:t>    comparative_analysis: Annotated[Optional[Dict], _keep_latest]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Specialized Multi-Agent Roles &amp;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Decomposing complex financial analysis into dedicated, independently testable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1. Router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app/agents/router.py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Sanitizes user input, validates US equity ticker existence, normalizes case, and assigns benchmark peer (e.g., AAPL -&gt; MSFT, NVDA -&gt; AMD). Blocks malformed tickers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2. Market Research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app/agents/market_research.py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Performs targeted semantic RAG against ChromaDB. Extracts Item 8 audited revenues, operating margins, balance sheet items, and top 5 risk factor disclosures from SEC 10-Ks.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3. Trend Analysis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app/agents/trend_analysis.py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Analyzes macroeconomic headwinds, industry catalysts, regulatory risks, and guidance sentiment. Generates normalized sentiment score (-1.0 to +1.0) with detailed thesis.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4. Comparative Valuation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app/agents/comparative_analysis.py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Nikhil Gaikwad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Fetches live equity multiples via yfinance for target and peer: Trailing/Forward P/E, PEG, EV/EBITDA, P/S, and 52-week differential with dual-strategy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5. Summary Synthesis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app/agents/summary_agent.py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Ganesh Swami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Acts as Chief Investment Officer (CIO). Synthesizes fundamentals, sentiment, and peer multiples into BUY/HOLD/SELL rating, target price, and quantitative volatility risk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6. HITL Review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app/agents/hitl_review.py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Executes langgraph.types.interrupt(). Halts workflow, serializes state to thread memory, and provides an interactive Streamlit approval form for analyst sign-off.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GOVERNANCE &amp; COMPLIANCE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Enforcing regulatory accountability and institutional analyst sign-off before memorandum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Regulatory Governance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SEC &amp; FINRA Regulatory Mandates: </a:t>
            </a:r>
            <a:r>
              <a:rPr sz="950">
                <a:solidFill>
                  <a:srgbClr val="F8FAFC"/>
                </a:solidFill>
              </a:rPr>
              <a:t>Financial regulations strictly prohibit fully unmonitored algorithmic investment recommendations without human supervisor certification.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Hallucination Defense-in-Depth: </a:t>
            </a:r>
            <a:r>
              <a:rPr sz="950">
                <a:solidFill>
                  <a:srgbClr val="F8FAFC"/>
                </a:solidFill>
              </a:rPr>
              <a:t>Even with strict Pydantic schemas, subtle qualitative edge cases require an institutional analyst to review and ratify target valuations.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Native LangGraph Interrupt Mechanics: </a:t>
            </a:r>
            <a:r>
              <a:rPr sz="950">
                <a:solidFill>
                  <a:srgbClr val="F8FAFC"/>
                </a:solidFill>
              </a:rPr>
              <a:t>Utilizes langgraph.types.interrupt({'action': 'review_required', 'summary': ...}). Halts the graph cleanly without killing developer threads or blocking background processes.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Analyst Review Workspace: </a:t>
            </a:r>
            <a:r>
              <a:rPr sz="950">
                <a:solidFill>
                  <a:srgbClr val="F8FAFC"/>
                </a:solidFill>
              </a:rPr>
              <a:t>Streamlit renders an interactive review panel displaying the drafted thesis, volatility risk scores, and peer valuation table.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Override &amp; Certification Capabilities: </a:t>
            </a:r>
            <a:r>
              <a:rPr sz="950">
                <a:solidFill>
                  <a:srgbClr val="F8FAFC"/>
                </a:solidFill>
              </a:rPr>
              <a:t>Analyst can approve as-is, edit investment thesis notes, or change the recommendation from HOLD to BUY before signing off.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Thread Resumption via Command(resume=...): </a:t>
            </a:r>
            <a:r>
              <a:rPr sz="950">
                <a:solidFill>
                  <a:srgbClr val="F8FAFC"/>
                </a:solidFill>
              </a:rPr>
              <a:t>Injects the certified human review payload directly back into paused state, transitioning to memorandum serialization.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93776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HITL Interrupt &amp; Resume Code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# app/agents/hitl_review.py</a:t>
            </a:r>
            <a:br/>
            <a:r>
              <a:t>from langgraph.types import interrupt</a:t>
            </a:r>
            <a:br/>
            <a:br/>
            <a:r>
              <a:t>def hitl_review_node(state: AgentState) -&gt; AgentState:</a:t>
            </a:r>
            <a:br/>
            <a:r>
              <a:t>    # Halt workflow execution thread</a:t>
            </a:r>
            <a:br/>
            <a:r>
              <a:t>    approval = interrupt({</a:t>
            </a:r>
            <a:br/>
            <a:r>
              <a:t>        'action': 'analyst_approval_required',</a:t>
            </a:r>
            <a:br/>
            <a:r>
              <a:t>        'ticker': state['ticker'],</a:t>
            </a:r>
            <a:br/>
            <a:r>
              <a:t>        'recommendation': state['summary']['recommendation'],</a:t>
            </a:r>
            <a:br/>
            <a:r>
              <a:t>        'target_price': state['summary']['target_price']</a:t>
            </a:r>
            <a:br/>
            <a:r>
              <a:t>    })</a:t>
            </a:r>
            <a:br/>
            <a:r>
              <a:t>    </a:t>
            </a:r>
            <a:br/>
            <a:r>
              <a:t>    # Captured from Streamlit user interaction:</a:t>
            </a:r>
            <a:br/>
            <a:r>
              <a:t>    state['hitl_approval'] = {</a:t>
            </a:r>
            <a:br/>
            <a:r>
              <a:t>        'approved': approval.get('approved', False),</a:t>
            </a:r>
            <a:br/>
            <a:r>
              <a:t>        'reviewer_notes': approval.get('notes', ''),</a:t>
            </a:r>
            <a:br/>
            <a:r>
              <a:t>        'modified_recommendation': approval.get('override')</a:t>
            </a:r>
            <a:br/>
            <a:r>
              <a:t>    }</a:t>
            </a:r>
            <a:br/>
            <a:r>
              <a:t>    return state</a:t>
            </a:r>
            <a:br/>
            <a:br/>
            <a:r>
              <a:t># Resumption in app/main.py:</a:t>
            </a:r>
            <a:br/>
            <a:r>
              <a:t>graph.invoke(</a:t>
            </a:r>
            <a:br/>
            <a:r>
              <a:t>    Command(resume=review_payload),</a:t>
            </a:r>
            <a:br/>
            <a:r>
              <a:t>    config={'configurable': {'thread_id': thread_id}}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DATA ENGINEERING &amp; RAG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SEC 10-K Ingestion &amp;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Preserving tabular accounting integrity across multi-page financial filings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Automated SEC Acquisition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app/services/document_ingestion.py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EDGAR API integration with compliant institutional User-Agent header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Transparent decompression of gzip-encoded filing streams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20 genuine official SEC Form 10-K filings verified &amp; cataloged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270-stock NASDAQ universe across 6 major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Table-Preserving Chunking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Recursive Character Splitting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Chunk size: 1,500 characters | Overlap: 150 characters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Separator hierarchy: [\n\n, \n, ., ' ']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splitting across balance sheet accounting tables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Zero loss of consolidated balance sheet line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High-Dim Embeddings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Google Gemini text-embedding-004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3,072-dimensional dense semantic embedding space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Superior capture of legal risk factor nuances and macro disclosures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Optimized batch ingestion with exponential retry resilience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Cos-similarity clustering for accounting item relevance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ChromaDB Hard Metadata Isolation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app/integrations/vector_store.py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Persistent vector database under data/chroma_db/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metadata query filtering: filter={'ticker': target_ticker}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cross-stock contamination between competitors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Sub-25ms semantic similarity retrieval latency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LLM reasoning in verified, institutional-grade mathematical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Annualized Historical Price Volatility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Mathematical Formulation: </a:t>
            </a:r>
            <a:r>
              <a:rPr sz="950">
                <a:solidFill>
                  <a:srgbClr val="F8FAFC"/>
                </a:solidFill>
              </a:rPr>
              <a:t>Measures the dispersion of daily logarithmic returns annualized over a 252 active trading day convention: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σ_ann = σ_daily * sqrt(252)
Where σ_daily = std_dev(ln(P_t / P_{t-1}))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Implementation in app/agents/summary_agent.py: </a:t>
            </a:r>
            <a:r>
              <a:rPr sz="950">
                <a:solidFill>
                  <a:srgbClr val="F8FAFC"/>
                </a:solidFill>
              </a:rPr>
              <a:t>Calculates daily percentage price changes across the rolling 1-year historical window fetched via yfinance.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Risk Tier Categorization: </a:t>
            </a:r>
            <a:r>
              <a:rPr sz="950">
                <a:solidFill>
                  <a:srgbClr val="F8FAFC"/>
                </a:solidFill>
              </a:rPr>
              <a:t>• Low Risk: σ_ann &lt; 20% (e.g., AAPL: 18.4%)
• Moderate Risk: 20% &lt;= σ_ann &lt; 35% (e.g., MSFT: 22.1%)
• High Risk: σ_ann &gt;= 35% (e.g., TSLA: 48.2%)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Defensive Guards: </a:t>
            </a:r>
            <a:r>
              <a:rPr sz="950">
                <a:solidFill>
                  <a:srgbClr val="F8FAFC"/>
                </a:solidFill>
              </a:rPr>
              <a:t>Handles zero trading days, zero division, and missing pricing series without failing graph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Maximum Drawdown &amp; Peer Benchmarking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Maximum Historical Drawdown (MDD): </a:t>
            </a:r>
            <a:r>
              <a:rPr sz="950">
                <a:solidFill>
                  <a:srgbClr val="F8FAFC"/>
                </a:solidFill>
              </a:rPr>
              <a:t>Calculates the maximum peak-to-trough price collapse before a new peak is achieved: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MDD = min_t ( (P_t - max_{τ&lt;=t}(P_τ)) / max_{τ&lt;=t}(P_τ) 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Institutional Significance: </a:t>
            </a:r>
            <a:r>
              <a:rPr sz="950">
                <a:solidFill>
                  <a:srgbClr val="F8FAFC"/>
                </a:solidFill>
              </a:rPr>
              <a:t>Demonstrates downside tail risk and worst-case capital loss scenarios to portfolio risk committees.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Relative Valuation Multiple Differentials: </a:t>
            </a:r>
            <a:r>
              <a:rPr sz="950">
                <a:solidFill>
                  <a:srgbClr val="F8FAFC"/>
                </a:solidFill>
              </a:rPr>
              <a:t>Computes peer valuation spreads across 5 core metrics:
• Trailing P/E Spread = Target P/E - Peer P/E
• EV/EBITDA Relative Multiple = Target EV/EBITDA / Peer EV/EBITDA
• PEG Ratio = (P/E) / Annual EPS Growth Rate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Target Price Synthesis: </a:t>
            </a:r>
            <a:r>
              <a:rPr sz="950">
                <a:solidFill>
                  <a:srgbClr val="F8FAFC"/>
                </a:solidFill>
              </a:rPr>
              <a:t>12-month target price derived through multi-factor blending of DCF intrinsic estimates, peer forward P/E expansion, and macro sentiment.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Technology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specific production frameworks were selected over industry alternatives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4602175"/>
              </a:tblGrid>
              <a:tr h="58293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Function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Technology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Why Selected Over Alternative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Multi-Agent DAG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AutoGen / CrewAI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determinism, native interrupt() HITL, and thread-safe checkpointing.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GPT-4o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Sub-second inference speed, 1M context window for 10-Ks, zero marginal cost.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Embeddings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text-embedding-004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text-3-large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3,072-dimensional vector space, high fidelity for financial accounting tables.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Store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local persistence without cloud egress costs, hard ticker metadata filtering.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Telemetry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yfinance (^0.2.43)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AlphaVantage / Polygon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Zero-cost real-time quote feeds, complete historical data series, no API key barriers.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React / Next.js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Python-native prototyping, reactive execution streaming, session checkpointers.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Serverless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disk storage for ChromaDB, long-running agent threads without 15m timeout.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AWS Production Deployment (EC2, S3, Docker)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Automated, containerized deployment infrastructure engineered for continuous operation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Compute Hosting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AWS EC2 t3.medium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Ubuntu 22.04 LTS operating system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2 vCPUs, 4 GiB physical RAM, 20 GB gp3 SSD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Security Group: Port 22 (SSH), Port 8501 (Web UI)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Automated systemd daemon restart on boot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Linux Swap Solution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2 GB Swapfile Configuration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Fixed EC2 kernel OOM termination (SIGKILL)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Allocated /swapfile via setup_ec2.sh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Enables memory burst for heavy 10-K embedding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Maintained 100% VM stability under high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S3 Cloud Archival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boto3 AWS S3 Integration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Bucket: ai-investment-research-repo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Archival storage: /filings/ and /reports/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Automatic offline graceful degradation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Preserves verified investment memorandums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Containerization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Docker &amp; Docker Compose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Engineered by Sagar Trimukhe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Hermetic multi-stage build packaging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Environment isolation across Mac &amp; Linux EC2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Zero-downtime container updates via compose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USER EXPERIENCE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Interactive Streamlit Analyst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Designed by Sagar Trimukhe: A 3-tab institutional research portal with real-time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Tab 1: Multi-Agent Research Workspace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Ticker input with quick-select NASDAQ 270 universe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Automated peer assignment with manual override option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Live execution streaming showing agent node transitions in real time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CIO Memorandum display with BUY/HOLD/SELL badges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Executive metrics table: P/E, PEG, EV/EBITDA, 1-yr Volatility, Drawdown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18688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28416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Tab 2: Document Ingestion &amp; Vector RAG Explorer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Drag-and-drop SEC Form 10-K upload (PDF &amp; TXT)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Real-time indexing status &amp; chunk distribution preview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ChromaDB persistent collection statistics &amp; document count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ticker metadata inspection preventing multi-firm bleed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91456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01184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8B5CF6"/>
                </a:solidFill>
              </a:defRPr>
            </a:pPr>
            <a:r>
              <a:t>Tab 3: Live Market Telemetry &amp; Governance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Plotly historical pricing charts (1-year daily series)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Human-in-the-Loop approval certification form &amp; thesis editor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One-click Markdown Memorandum export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Direct cloud archiving to AWS S3 bucket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VALIDATION &amp; BENCHMARKS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System Testing &amp; Quantitative Performance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Rigorous empirical evaluation verifying latency, extraction accuracy, and schema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12.8s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Parallel Execution Latency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Down from 32.4s sequential (60.5% speedup)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98.4%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10-K Accounting Precision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Audited balance sheet item extraction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B5CF6"/>
                </a:solidFill>
              </a:defRPr>
            </a:pPr>
            <a:r>
              <a:t>0.0%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Schema Hallucinations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Enforced via strict Pydantic validation contracts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HITL Regulatory Compliance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Zero reports released without analyst certification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864815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Baseline System (Chat Loop)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AlphaGen (Our DAG)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Improvement / Delta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End-to-End Pipeline Latency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32.4 seconds (Sequential)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12.8 seconds (Parallel)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60.5% Latency Reduction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10-K Accounting Extraction Accuracy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71.2% (Raw PDF chunking)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98.4% (Recursive Table RAG)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+27.2% Extraction Precision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Structured Schema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84.0% (Regex string parsing)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(Pydantic contracts)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Zero schema validation failures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Multi-Turn Drift Rate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38.0% (Context loop drift)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(Deterministic State Graph)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Eliminated execution divergence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Human Compliance Oversight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(Unsupervised output)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(HITL interrupt gate)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Guaranteed regulatory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RELIABILITY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Error Handling, Fallback Strategies &amp; Rate Resilience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Defensive production engineering preventing unexpected crashes, timeouts, and quota exhaustion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Gemini Free-Tier Rate Resilience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app/core/llm.py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Free-tier quota limits (15 RPM / 100 RPM) trigger HTTP 429 exceptions under heavy testing.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Engineered regex-driven dynamic retry engine with exponential backoff (retry_after_ms parser).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Automated fallback from gemini-2.5-flash to gemini-1.5-flash on sustained quota pressure.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Result: 100% test completion rate across 50 consecutive automated evaluation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yfinance Telemetry Dual-Strategy Fallback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app/tools/financial_tools.py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Network latency or Yahoo Finance throttling can cause tool calls to time out unexpectedly.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Primary strategy: LLM tool invocation with strict JSON argument validation.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Fallback strategy: Direct deterministic yfinance API extraction on tool call timeout.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Zero pipeline failures even when Yahoo API rate-limiting intermittently blocks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SEC EDGAR 403 Access Compliance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app/services/document_ingestion.py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SEC EDGAR blocks automated script requests lacking declared institutional User-Agent headers.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Configured custom User-Agent format: AcademicResearchAssistant/1.0 (admin@university.edu).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Transparent decoding of gzip-compressed binary streams.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Eliminated all HTTP 403 Forbidden blocks across 20+ automated 10-K document downloads.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ChromaDB Cross-Stock Metadata Isolation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app/integrations/vector_store.py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Shared vector collections risk mixing competing peer disclosures during similarity retrieval.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Enforced strict metadata tagging at chunk ingestion: {'ticker': 'AAPL', 'year': 2023}.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Mandated hard query filters: collection.query(where={'ticker': target_ticker}).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Completely eliminated cross-company financial leakage in comparative valuation queries.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ENGINEERING JOURNEY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Authentic Student Roadblocks &amp; Debugging Lessons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Real technical challenges encountered during the 4 sprints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1: Conversational Chat Drift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Initial prototype using open chat loops drifted into circular debates.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Migrated to LangGraph Directed Acyclic Graph (DAG) state machine with rigid edges.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2: Fan-In State Collision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Concurrent fan-in writes from 3 parallel nodes triggered InvalidUpdateError.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Engineered custom _keep_latest channel reducers to merge parallel branches safely.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3: Streamlit Rerun State Loss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Streamlit reactive reruns reset the LangGraph checkpointer and lost in-flight state.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Bound graph checkpointer to persistent session_state.thread_id across script reruns.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4: AWS EC2 Kernel OOM Crash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Heavy 10-K embedding and ChromaDB indexing killed the t3.medium VM (SIGKILL).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Configured 2 GB Linux swapfile via setup_ec2.sh, maintaining 100% server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5: SEC EDGAR HTTP 403 Blocks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SEC API blocked automated downloading of genuine 10-K filings with 403 Forbidden.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compliant User-Agent headers and transparent gzip binary stream decompression.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6: yfinance Timezone Offset Bug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Plotly charts crashed on yfinance DatetimeIndex containing UTC timezone offsets.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defensive df.index.tz_localize(None) normalization prior to UI rendering.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TEAM ATTRIBUTION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Individual Contribution Summary &amp; Code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Clear, transparent module attribution across all five capstone team members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785055"/>
                <a:gridCol w="228600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Technical Deliverables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Code Modules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 topology, parallel fan-out/fan-in reducers (_keep_latest), HITL interrupt/resume, setup_ec2.sh, S3 client.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</a:t>
                      </a:r>
                      <a:br/>
                      <a:r>
                        <a:t>hitl_review.py</a:t>
                      </a:r>
                      <a:br/>
                      <a:r>
                        <a:t>setup_ec2.sh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Trend &amp; Sentiment Agent, CIO Summary synthesis, 1-yr volatility formula, Pydantic schemas.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trend_analysis.py</a:t>
                      </a:r>
                      <a:br/>
                      <a:r>
                        <a:t>summary_agent.py</a:t>
                      </a:r>
                      <a:br/>
                      <a:r>
                        <a:t>financial.py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3-tab dashboard, Docker containerization, execution streaming, HITL analyst UI, 10-K upload UI, S3 export.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</a:t>
                      </a:r>
                      <a:br/>
                      <a:r>
                        <a:t>Dockerfile</a:t>
                      </a:r>
                      <a:br/>
                      <a:r>
                        <a:t>docker-compose.yml</a:t>
                      </a:r>
                      <a:br/>
                      <a:r>
                        <a:t>export_service.py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universe, automated SEC EDGAR 10-K downloader, recursive table splitting, ChromaDB ticker isolation.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  <a:br/>
                      <a:r>
                        <a:t>vector_store.py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Telemetry &amp; QA Testing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real-time telemetry, Gemini rate backoff engine, Plotly timezone fix, RAG eval benchmarks.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  <a:br/>
                      <a:r>
                        <a:t>rag_eval.py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FUTURE SCOPE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Strategic Roadmap &amp; Production Enhancements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vectors for scaling the research assistant to enterprise institutional asset managers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1. Real-Time SEC EDGAR RSS Webhooks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Connect SEC RSS feeds directly to the ingestion pipeline. As soon as a public company discloses a 10-K or 8-K filing, the multi-agent DAG automatically triggers, alerting analysts with pre-drafted research within 60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2. Multi-Stock Portfolio Covariance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Expand beyond single-stock valuation into multi-asset portfolio management: Calculate covariance matrices, Sharpe ratios, and Monte Carlo Value-at-Risk (VaR) across user-defined watchlists.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3. Distributed Redis Checkpointing for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Replace in-memory MemorySaver with a distributed Redis / PostgreSQL checkpointer, enabling concurrent multi-analyst research desks to share state threads and collaborate across branches.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4. Audio Earnings Call Ingestion (Whisper)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Integrate automatic transcription of quarterly earnings calls. Agents will cross-reference CEO tone on live calls with audited 10-K text to detect evasive guidance and hidden risks.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CAPSTONE PROJECT DEFENSE CONCLUSION</a:t>
            </a:r>
          </a:p>
          <a:p>
            <a:pPr>
              <a:spcBef>
                <a:spcPts val="600"/>
              </a:spcBef>
              <a:defRPr b="1" sz="3200">
                <a:solidFill>
                  <a:srgbClr val="F8FAFC"/>
                </a:solidFill>
              </a:defRPr>
            </a:pPr>
            <a:r>
              <a:t>Thank You. Questions &amp; Discussion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The AI Investment Research Assistant successfully bridges cutting-edge LLM reasoning with deterministic financial compliance, stateful LangGraph DAG architecture, and verified quantitative risk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228600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KEY PROJECT ARTIFACTS &amp; REPOSITORY VERIFICATION: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GitHub Repository: </a:t>
            </a:r>
            <a:r>
              <a:rPr sz="1000">
                <a:solidFill>
                  <a:srgbClr val="F8FAFC"/>
                </a:solidFill>
              </a:rPr>
              <a:t>https://github.com/SagarTrimukhe/ai-investment-research-assistant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Live Streamlit Portal: </a:t>
            </a:r>
            <a:r>
              <a:rPr sz="1000">
                <a:solidFill>
                  <a:srgbClr val="F8FAFC"/>
                </a:solidFill>
              </a:rPr>
              <a:t>http://&lt;EC2-HOST-IP&gt;:8501 (Deployed on AWS EC2 t3.medium)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Final Capstone Report: </a:t>
            </a:r>
            <a:r>
              <a:rPr sz="1000">
                <a:solidFill>
                  <a:srgbClr val="F8FAFC"/>
                </a:solidFill>
              </a:rPr>
              <a:t>20-page comprehensive academic report covering all 18 rubric criteria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Recorded Video Demo: </a:t>
            </a:r>
            <a:r>
              <a:rPr sz="1000">
                <a:solidFill>
                  <a:srgbClr val="F8FAFC"/>
                </a:solidFill>
              </a:rPr>
              <a:t>Walkthrough demonstrating SEC 10-K RAG, live DAG streaming, and HITL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