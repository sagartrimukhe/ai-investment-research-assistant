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38BDF8"/>
                </a:solidFill>
                <a:latin typeface="Arial"/>
              </a:rPr>
              <a:t>IIT ROORKEE  &amp;  FUTURENSE  ·  JOINT CERTIFICATION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200" b="1">
                <a:solidFill>
                  <a:srgbClr val="F8FAFC"/>
                </a:solidFill>
                <a:latin typeface="Arial"/>
              </a:rPr>
              <a:t>AI Investment Research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38BDF8"/>
                </a:solidFill>
                <a:latin typeface="Arial"/>
              </a:rPr>
              <a:t>Autonomous Multi-Agent Equity Research  ·  Human-in-the-Loop Governance  ·  AWS Cloud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44368"/>
            <a:ext cx="10728655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182112"/>
            <a:ext cx="10728655" cy="475488"/>
          </a:xfrm>
          <a:prstGeom prst="rect">
            <a:avLst/>
          </a:prstGeom>
          <a:solidFill>
            <a:srgbClr val="0E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27832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94A3B8"/>
                </a:solidFill>
                <a:latin typeface="Arial"/>
              </a:rPr>
              <a:t>CAPSTONE FINAL DEFENSE  ·  THEME 15 (FINANCE DOMAIN)  ·  IIT ROORKEE &amp; FUTURENSE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2258568" cy="2286000"/>
          </a:xfrm>
          <a:prstGeom prst="roundRect">
            <a:avLst/>
          </a:prstGeom>
          <a:solidFill>
            <a:srgbClr val="1018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2258568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76756" y="4069080"/>
            <a:ext cx="768096" cy="76809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76756" y="4142232"/>
            <a:ext cx="76809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80C18"/>
                </a:solidFill>
                <a:latin typeface="Arial"/>
              </a:rPr>
              <a:t>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56048"/>
            <a:ext cx="20756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rial"/>
              </a:rPr>
              <a:t>Ganesh Swami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49240"/>
            <a:ext cx="207568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38BDF8"/>
                </a:solidFill>
                <a:latin typeface="Arial"/>
              </a:rPr>
              <a:t>Backend &amp; Cloud Lead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54096" y="3840480"/>
            <a:ext cx="2258568" cy="2286000"/>
          </a:xfrm>
          <a:prstGeom prst="roundRect">
            <a:avLst/>
          </a:prstGeom>
          <a:solidFill>
            <a:srgbClr val="1018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54096" y="3840480"/>
            <a:ext cx="2258568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99332" y="4069080"/>
            <a:ext cx="768096" cy="7680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9332" y="4142232"/>
            <a:ext cx="76809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80C18"/>
                </a:solidFill>
                <a:latin typeface="Arial"/>
              </a:rPr>
              <a:t>SG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5536" y="4956048"/>
            <a:ext cx="20756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rial"/>
              </a:rPr>
              <a:t>Shradha Gaikwad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536" y="5349240"/>
            <a:ext cx="207568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10B981"/>
                </a:solidFill>
                <a:latin typeface="Arial"/>
              </a:rPr>
              <a:t>Financial Modeling Lead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76672" y="3840480"/>
            <a:ext cx="2258568" cy="2286000"/>
          </a:xfrm>
          <a:prstGeom prst="roundRect">
            <a:avLst/>
          </a:prstGeom>
          <a:solidFill>
            <a:srgbClr val="1018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76672" y="3840480"/>
            <a:ext cx="2258568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1908" y="4069080"/>
            <a:ext cx="768096" cy="7680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1908" y="4142232"/>
            <a:ext cx="76809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80C18"/>
                </a:solidFill>
                <a:latin typeface="Arial"/>
              </a:rPr>
              <a:t>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68112" y="4956048"/>
            <a:ext cx="20756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rial"/>
              </a:rPr>
              <a:t>Sagar Trimukhe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68112" y="5349240"/>
            <a:ext cx="207568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F59E0B"/>
                </a:solidFill>
                <a:latin typeface="Arial"/>
              </a:rPr>
              <a:t>Frontend &amp; HITL Lead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99248" y="3840480"/>
            <a:ext cx="2258568" cy="2286000"/>
          </a:xfrm>
          <a:prstGeom prst="roundRect">
            <a:avLst/>
          </a:prstGeom>
          <a:solidFill>
            <a:srgbClr val="10182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99248" y="3840480"/>
            <a:ext cx="2258568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44484" y="4069080"/>
            <a:ext cx="768096" cy="76809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44484" y="4142232"/>
            <a:ext cx="76809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80C18"/>
                </a:solidFill>
                <a:latin typeface="Arial"/>
              </a:rPr>
              <a:t>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90688" y="4956048"/>
            <a:ext cx="20756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rial"/>
              </a:rPr>
              <a:t>Nilanjan Das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0688" y="5349240"/>
            <a:ext cx="207568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8B5CF6"/>
                </a:solidFill>
                <a:latin typeface="Arial"/>
              </a:rPr>
              <a:t>Data Engineering Lead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21824" y="3840480"/>
            <a:ext cx="2258568" cy="2286000"/>
          </a:xfrm>
          <a:prstGeom prst="roundRect">
            <a:avLst/>
          </a:prstGeom>
          <a:solidFill>
            <a:srgbClr val="1018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1824" y="3840480"/>
            <a:ext cx="2258568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767060" y="4069080"/>
            <a:ext cx="768096" cy="7680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67060" y="4142232"/>
            <a:ext cx="76809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80C18"/>
                </a:solidFill>
                <a:latin typeface="Arial"/>
              </a:rPr>
              <a:t>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13264" y="4956048"/>
            <a:ext cx="20756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rial"/>
              </a:rPr>
              <a:t>Nikhil Gaikwad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13264" y="5349240"/>
            <a:ext cx="207568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3B82F6"/>
                </a:solidFill>
                <a:latin typeface="Arial"/>
              </a:rPr>
              <a:t>Integration &amp; QA Lead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200" b="1">
                <a:solidFill>
                  <a:srgbClr val="3D2702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Arial"/>
              </a:rPr>
              <a:t>The Problem &amp; 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rial"/>
              </a:rPr>
              <a:t>Why traditional equity research breaks — and how autonomous AI fixes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434840"/>
            <a:ext cx="3108960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38BDF8"/>
                </a:solidFill>
                <a:latin typeface="Arial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698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rial"/>
              </a:rPr>
              <a:t>The Industry Challenge &amp; Autonomous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27632"/>
            <a:ext cx="5239512" cy="4773168"/>
          </a:xfrm>
          <a:prstGeom prst="roundRect">
            <a:avLst/>
          </a:prstGeom>
          <a:solidFill>
            <a:srgbClr val="10182A"/>
          </a:solidFill>
          <a:ln w="9525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27632"/>
            <a:ext cx="59436" cy="4773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" y="1792224"/>
            <a:ext cx="4905756" cy="4443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59E0B"/>
                </a:solidFill>
                <a:latin typeface="Arial"/>
              </a:defRPr>
            </a:pPr>
            <a:r>
              <a:t>The Industry Problem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F59E0B"/>
                </a:solidFill>
                <a:latin typeface="Arial"/>
              </a:rPr>
              <a:t>▸  Manual Research Bottleneck  </a:t>
            </a:r>
            <a:r>
              <a:rPr b="0" sz="1000">
                <a:solidFill>
                  <a:srgbClr val="F8FAFC"/>
                </a:solidFill>
                <a:latin typeface="Arial"/>
              </a:rPr>
              <a:t>Analysts spend 8–15 hours per company compiling 10-Ks, pricing data and peer multiples.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F59E0B"/>
                </a:solidFill>
                <a:latin typeface="Arial"/>
              </a:rPr>
              <a:t>▸  Information Fragmentation  </a:t>
            </a:r>
            <a:r>
              <a:rPr b="0" sz="1000">
                <a:solidFill>
                  <a:srgbClr val="F8FAFC"/>
                </a:solidFill>
                <a:latin typeface="Arial"/>
              </a:rPr>
              <a:t>Financials, live market data and macro news live in disconnected silos.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F59E0B"/>
                </a:solidFill>
                <a:latin typeface="Arial"/>
              </a:rPr>
              <a:t>▸  Single-Prompt LLM Fragility  </a:t>
            </a:r>
            <a:r>
              <a:rPr b="0" sz="1000">
                <a:solidFill>
                  <a:srgbClr val="F8FAFC"/>
                </a:solidFill>
                <a:latin typeface="Arial"/>
              </a:rPr>
              <a:t>Generic models hallucinate audited figures and miss compliance guardrails.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F59E0B"/>
                </a:solidFill>
                <a:latin typeface="Arial"/>
              </a:rPr>
              <a:t>▸  No Human Oversight Layer  </a:t>
            </a:r>
            <a:r>
              <a:rPr b="0" sz="1000">
                <a:solidFill>
                  <a:srgbClr val="F8FAFC"/>
                </a:solidFill>
                <a:latin typeface="Arial"/>
              </a:rPr>
              <a:t>Pure automation without review exposes firms to regulatory and reputational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627632"/>
            <a:ext cx="5239512" cy="4773168"/>
          </a:xfrm>
          <a:prstGeom prst="roundRect">
            <a:avLst/>
          </a:prstGeom>
          <a:solidFill>
            <a:srgbClr val="10182A"/>
          </a:solidFill>
          <a:ln w="9525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5352" y="1627632"/>
            <a:ext cx="59436" cy="4773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1948" y="1792224"/>
            <a:ext cx="4905756" cy="4443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The Autonomous Solution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0B981"/>
                </a:solidFill>
                <a:latin typeface="Arial"/>
              </a:rPr>
              <a:t>▸  Specialized Agent DAG  </a:t>
            </a:r>
            <a:r>
              <a:rPr b="0" sz="1000">
                <a:solidFill>
                  <a:srgbClr val="F8FAFC"/>
                </a:solidFill>
                <a:latin typeface="Arial"/>
              </a:rPr>
              <a:t>LangGraph orchestrates purpose-built agents instead of one monolithic prompt.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0B981"/>
                </a:solidFill>
                <a:latin typeface="Arial"/>
              </a:rPr>
              <a:t>▸  45 % Speed Uplift  </a:t>
            </a:r>
            <a:r>
              <a:rPr b="0" sz="1000">
                <a:solidFill>
                  <a:srgbClr val="F8FAFC"/>
                </a:solidFill>
                <a:latin typeface="Arial"/>
              </a:rPr>
              <a:t>Concurrent parallel fan-out cuts end-to-end research time by over 45 %.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0B981"/>
                </a:solidFill>
                <a:latin typeface="Arial"/>
              </a:rPr>
              <a:t>▸  Vector-Grounded RAG  </a:t>
            </a:r>
            <a:r>
              <a:rPr b="0" sz="1000">
                <a:solidFill>
                  <a:srgbClr val="F8FAFC"/>
                </a:solidFill>
                <a:latin typeface="Arial"/>
              </a:rPr>
              <a:t>ChromaDB retrieves verbatim balance-sheet data from official SEC EDGAR 10-K filings.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0B981"/>
                </a:solidFill>
                <a:latin typeface="Arial"/>
              </a:rPr>
              <a:t>▸  Mandatory Governance Gate  </a:t>
            </a:r>
            <a:r>
              <a:rPr b="0" sz="1000">
                <a:solidFill>
                  <a:srgbClr val="F8FAFC"/>
                </a:solidFill>
                <a:latin typeface="Arial"/>
              </a:rPr>
              <a:t>No memorandum is published without explicit human-analyst sign-off.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200" b="1">
                <a:solidFill>
                  <a:srgbClr val="0E2F3E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Arial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rial"/>
              </a:rPr>
              <a:t>Stateful DAG · Parallel Agents · Vector RAG · Human Interrupt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434840"/>
            <a:ext cx="3108960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38BDF8"/>
                </a:solidFill>
                <a:latin typeface="Arial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698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rial"/>
              </a:rPr>
              <a:t>End-to-End Multi-Agent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27632"/>
            <a:ext cx="2743200" cy="477316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377440"/>
            <a:ext cx="25968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080C18"/>
                </a:solidFill>
                <a:latin typeface="Arial"/>
              </a:rPr>
              <a:t>5-Stage
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383280"/>
            <a:ext cx="2596896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10182A"/>
                </a:solidFill>
                <a:latin typeface="Arial"/>
              </a:rPr>
              <a:t>LangGraph DAG
·  ChromaDB RAG
·  Gemini 2.5 Flash
·  Streamlit UI
·  AWS Cloud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627632"/>
            <a:ext cx="64008" cy="8412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1608" y="1627632"/>
            <a:ext cx="7735824" cy="841248"/>
          </a:xfrm>
          <a:prstGeom prst="roundRect">
            <a:avLst/>
          </a:prstGeom>
          <a:solidFill>
            <a:srgbClr val="10182A"/>
          </a:solidFill>
          <a:ln w="9525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8768" y="1719072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38BDF8"/>
                </a:solidFill>
                <a:latin typeface="Arial"/>
              </a:rPr>
              <a:t>① Router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066544"/>
            <a:ext cx="74066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Validates ticker · assigns benchmark peer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587752"/>
            <a:ext cx="64008" cy="8412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21608" y="2587752"/>
            <a:ext cx="7735824" cy="841248"/>
          </a:xfrm>
          <a:prstGeom prst="roundRect">
            <a:avLst/>
          </a:prstGeom>
          <a:solidFill>
            <a:srgbClr val="10182A"/>
          </a:solidFill>
          <a:ln w="9525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2679192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10B981"/>
                </a:solidFill>
                <a:latin typeface="Arial"/>
              </a:rPr>
              <a:t>② Market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3026664"/>
            <a:ext cx="74066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Extracts 10-K financials via ChromaDB RAG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547872"/>
            <a:ext cx="64008" cy="8412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21608" y="3547872"/>
            <a:ext cx="7735824" cy="841248"/>
          </a:xfrm>
          <a:prstGeom prst="roundRect">
            <a:avLst/>
          </a:prstGeom>
          <a:solidFill>
            <a:srgbClr val="10182A"/>
          </a:solidFill>
          <a:ln w="9525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58768" y="3639312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F59E0B"/>
                </a:solidFill>
                <a:latin typeface="Arial"/>
              </a:rPr>
              <a:t>③ Trend &amp; Sentiment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3986784"/>
            <a:ext cx="74066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Scores macro &amp; news sentiment  –1.0 → +1.0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4507992"/>
            <a:ext cx="64008" cy="8412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721608" y="4507992"/>
            <a:ext cx="7735824" cy="841248"/>
          </a:xfrm>
          <a:prstGeom prst="roundRect">
            <a:avLst/>
          </a:prstGeom>
          <a:solidFill>
            <a:srgbClr val="10182A"/>
          </a:solidFill>
          <a:ln w="9525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58768" y="4599432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8B5CF6"/>
                </a:solidFill>
                <a:latin typeface="Arial"/>
              </a:rPr>
              <a:t>④ Comparative 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58768" y="4946904"/>
            <a:ext cx="74066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Pulls live P/E · EV/EBITDA · PEG via yfinance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5468112"/>
            <a:ext cx="64008" cy="8412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721608" y="5468112"/>
            <a:ext cx="7735824" cy="841248"/>
          </a:xfrm>
          <a:prstGeom prst="roundRect">
            <a:avLst/>
          </a:prstGeom>
          <a:solidFill>
            <a:srgbClr val="10182A"/>
          </a:solidFill>
          <a:ln w="9525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58768" y="5559552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3B82F6"/>
                </a:solidFill>
                <a:latin typeface="Arial"/>
              </a:rPr>
              <a:t>⑤ CIO Summary + HITL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58768" y="5907024"/>
            <a:ext cx="74066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Synthesises thesis · human analyst certifies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38BDF8"/>
                </a:solidFill>
                <a:latin typeface="Arial"/>
              </a:rPr>
              <a:t>AGENT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698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rial"/>
              </a:rPr>
              <a:t>Specialized Agent Nodes &amp; Responsibilities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27632"/>
            <a:ext cx="2258568" cy="4800600"/>
          </a:xfrm>
          <a:prstGeom prst="roundRect">
            <a:avLst/>
          </a:prstGeom>
          <a:solidFill>
            <a:srgbClr val="1018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27632"/>
            <a:ext cx="2258568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55648"/>
            <a:ext cx="198424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38BDF8"/>
                </a:solidFill>
                <a:latin typeface="Arial"/>
              </a:rPr>
              <a:t>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67712"/>
            <a:ext cx="2075688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Arial"/>
              </a:rPr>
              <a:t>Ganesh Swami
&amp; Nilanjan Das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889504"/>
            <a:ext cx="1892808" cy="18288"/>
          </a:xfrm>
          <a:prstGeom prst="rect">
            <a:avLst/>
          </a:prstGeom>
          <a:solidFill>
            <a:srgbClr val="1E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17520"/>
            <a:ext cx="1984248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</a:pPr>
            <a:r>
              <a:rPr sz="950">
                <a:solidFill>
                  <a:srgbClr val="F8FAFC"/>
                </a:solidFill>
                <a:latin typeface="Arial"/>
              </a:rPr>
              <a:t>▸  Validates 270-stock catalog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F8FAFC"/>
                </a:solidFill>
                <a:latin typeface="Arial"/>
              </a:rPr>
              <a:t>▸  Maps target to benchmark peer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F8FAFC"/>
                </a:solidFill>
                <a:latin typeface="Arial"/>
              </a:rPr>
              <a:t>▸  Initialises graph thread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56839" y="1627632"/>
            <a:ext cx="2258568" cy="4800600"/>
          </a:xfrm>
          <a:prstGeom prst="roundRect">
            <a:avLst/>
          </a:prstGeom>
          <a:solidFill>
            <a:srgbClr val="1018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56839" y="1627632"/>
            <a:ext cx="2258568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93999" y="1755648"/>
            <a:ext cx="198424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10B981"/>
                </a:solidFill>
                <a:latin typeface="Arial"/>
              </a:rPr>
              <a:t>MARKET 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8279" y="2267712"/>
            <a:ext cx="2075688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Arial"/>
              </a:rPr>
              <a:t>Shradha Gaikwad
&amp; Sagar Trimukhe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9719" y="2889504"/>
            <a:ext cx="1892808" cy="18288"/>
          </a:xfrm>
          <a:prstGeom prst="rect">
            <a:avLst/>
          </a:prstGeom>
          <a:solidFill>
            <a:srgbClr val="1E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93999" y="3017520"/>
            <a:ext cx="1984248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</a:pPr>
            <a:r>
              <a:rPr sz="950">
                <a:solidFill>
                  <a:srgbClr val="F8FAFC"/>
                </a:solidFill>
                <a:latin typeface="Arial"/>
              </a:rPr>
              <a:t>▸  SEC 10-K balance-sheet extraction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F8FAFC"/>
                </a:solidFill>
                <a:latin typeface="Arial"/>
              </a:rPr>
              <a:t>▸  Revenue, margins, net income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F8FAFC"/>
                </a:solidFill>
                <a:latin typeface="Arial"/>
              </a:rPr>
              <a:t>▸  Verbatim ChromaDB retrieval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82158" y="1627632"/>
            <a:ext cx="2258568" cy="4800600"/>
          </a:xfrm>
          <a:prstGeom prst="roundRect">
            <a:avLst/>
          </a:prstGeom>
          <a:solidFill>
            <a:srgbClr val="1018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82158" y="1627632"/>
            <a:ext cx="2258568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19318" y="1755648"/>
            <a:ext cx="198424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F59E0B"/>
                </a:solidFill>
                <a:latin typeface="Arial"/>
              </a:rPr>
              <a:t>TREND &amp; SENTIMENT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3598" y="2267712"/>
            <a:ext cx="2075688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Arial"/>
              </a:rPr>
              <a:t>Nilanjan Das
&amp; Sagar Trimukhe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65038" y="2889504"/>
            <a:ext cx="1892808" cy="18288"/>
          </a:xfrm>
          <a:prstGeom prst="rect">
            <a:avLst/>
          </a:prstGeom>
          <a:solidFill>
            <a:srgbClr val="1E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19318" y="3017520"/>
            <a:ext cx="1984248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</a:pPr>
            <a:r>
              <a:rPr sz="950">
                <a:solidFill>
                  <a:srgbClr val="F8FAFC"/>
                </a:solidFill>
                <a:latin typeface="Arial"/>
              </a:rPr>
              <a:t>▸  Live macro &amp; news analysis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F8FAFC"/>
                </a:solidFill>
                <a:latin typeface="Arial"/>
              </a:rPr>
              <a:t>▸  Sentiment index –1.0 → +1.0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F8FAFC"/>
                </a:solidFill>
                <a:latin typeface="Arial"/>
              </a:rPr>
              <a:t>▸  Regulatory &amp; industry catalysts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07477" y="1627632"/>
            <a:ext cx="2258568" cy="4800600"/>
          </a:xfrm>
          <a:prstGeom prst="roundRect">
            <a:avLst/>
          </a:prstGeom>
          <a:solidFill>
            <a:srgbClr val="10182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07477" y="1627632"/>
            <a:ext cx="2258568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44637" y="1755648"/>
            <a:ext cx="198424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8B5CF6"/>
                </a:solidFill>
                <a:latin typeface="Arial"/>
              </a:rPr>
              <a:t>COMP. 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8917" y="2267712"/>
            <a:ext cx="2075688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Arial"/>
              </a:rPr>
              <a:t>Nikhil Gaikwad
&amp; Shradha Gaikwad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90357" y="2889504"/>
            <a:ext cx="1892808" cy="18288"/>
          </a:xfrm>
          <a:prstGeom prst="rect">
            <a:avLst/>
          </a:prstGeom>
          <a:solidFill>
            <a:srgbClr val="1E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4637" y="3017520"/>
            <a:ext cx="1984248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</a:pPr>
            <a:r>
              <a:rPr sz="950">
                <a:solidFill>
                  <a:srgbClr val="F8FAFC"/>
                </a:solidFill>
                <a:latin typeface="Arial"/>
              </a:rPr>
              <a:t>▸  Real-time P/E · EV/EBITDA · PEG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F8FAFC"/>
                </a:solidFill>
                <a:latin typeface="Arial"/>
              </a:rPr>
              <a:t>▸  Dual-strategy tool fallback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F8FAFC"/>
                </a:solidFill>
                <a:latin typeface="Arial"/>
              </a:rPr>
              <a:t>▸  Peer multiple differentials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32796" y="1627632"/>
            <a:ext cx="2258568" cy="4800600"/>
          </a:xfrm>
          <a:prstGeom prst="roundRect">
            <a:avLst/>
          </a:prstGeom>
          <a:solidFill>
            <a:srgbClr val="1018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32796" y="1627632"/>
            <a:ext cx="2258568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69956" y="1755648"/>
            <a:ext cx="198424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3B82F6"/>
                </a:solidFill>
                <a:latin typeface="Arial"/>
              </a:rPr>
              <a:t>CIO SUMMARY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24236" y="2267712"/>
            <a:ext cx="2075688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Arial"/>
              </a:rPr>
              <a:t>Shradha Gaikwad
&amp; Ganesh Swami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15676" y="2889504"/>
            <a:ext cx="1892808" cy="18288"/>
          </a:xfrm>
          <a:prstGeom prst="rect">
            <a:avLst/>
          </a:prstGeom>
          <a:solidFill>
            <a:srgbClr val="1E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69956" y="3017520"/>
            <a:ext cx="1984248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</a:pPr>
            <a:r>
              <a:rPr sz="950">
                <a:solidFill>
                  <a:srgbClr val="F8FAFC"/>
                </a:solidFill>
                <a:latin typeface="Arial"/>
              </a:rPr>
              <a:t>▸  BUY / HOLD / SELL + target price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F8FAFC"/>
                </a:solidFill>
                <a:latin typeface="Arial"/>
              </a:rPr>
              <a:t>▸  Volatility &amp; drawdown metrics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F8FAFC"/>
                </a:solidFill>
                <a:latin typeface="Arial"/>
              </a:rPr>
              <a:t>▸  Human analyst review gate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200" b="1">
                <a:solidFill>
                  <a:srgbClr val="042E20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Arial"/>
              </a:rPr>
              <a:t>Key Engineering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rial"/>
              </a:rPr>
              <a:t>Parallel Fan-Out · State Reducers · HITL Gate · Quantitative Risk Modeling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434840"/>
            <a:ext cx="3108960" cy="228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38BDF8"/>
                </a:solidFill>
                <a:latin typeface="Arial"/>
              </a:rPr>
              <a:t>CONCURRENCY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698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rial"/>
              </a:rPr>
              <a:t>Parallel Agent Fan-Out &amp; State Reducers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27632"/>
            <a:ext cx="2606040" cy="1280160"/>
          </a:xfrm>
          <a:prstGeom prst="roundRect">
            <a:avLst/>
          </a:prstGeom>
          <a:solidFill>
            <a:srgbClr val="0C122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27632"/>
            <a:ext cx="260604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260604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38BDF8"/>
                </a:solidFill>
                <a:latin typeface="Arial"/>
              </a:rPr>
              <a:t>45 %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rial"/>
              </a:rPr>
              <a:t>Latency Reduction</a:t>
            </a:r>
          </a:p>
          <a:p>
            <a:pPr algn="ctr"/>
            <a:r>
              <a:rPr sz="800" b="0">
                <a:solidFill>
                  <a:srgbClr val="475569"/>
                </a:solidFill>
                <a:latin typeface="Arial"/>
              </a:rPr>
              <a:t>vs sequential execution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627632"/>
            <a:ext cx="2606040" cy="1280160"/>
          </a:xfrm>
          <a:prstGeom prst="roundRect">
            <a:avLst/>
          </a:prstGeom>
          <a:solidFill>
            <a:srgbClr val="0C122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627632"/>
            <a:ext cx="260604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737360"/>
            <a:ext cx="260604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10B981"/>
                </a:solidFill>
                <a:latin typeface="Arial"/>
              </a:rPr>
              <a:t>13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286000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rial"/>
              </a:rPr>
              <a:t>Avg. Run Time</a:t>
            </a:r>
          </a:p>
          <a:p>
            <a:pPr algn="ctr"/>
            <a:r>
              <a:rPr sz="800" b="0">
                <a:solidFill>
                  <a:srgbClr val="475569"/>
                </a:solidFill>
                <a:latin typeface="Arial"/>
              </a:rPr>
              <a:t>end-to-end per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27632"/>
            <a:ext cx="2606040" cy="1280160"/>
          </a:xfrm>
          <a:prstGeom prst="roundRect">
            <a:avLst/>
          </a:prstGeom>
          <a:solidFill>
            <a:srgbClr val="0C122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627632"/>
            <a:ext cx="260604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737360"/>
            <a:ext cx="260604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F59E0B"/>
                </a:solidFill>
                <a:latin typeface="Arial"/>
              </a:rPr>
              <a:t>24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286000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rial"/>
              </a:rPr>
              <a:t>Baseline (Sequential)</a:t>
            </a:r>
          </a:p>
          <a:p>
            <a:pPr algn="ctr"/>
            <a:r>
              <a:rPr sz="800" b="0">
                <a:solidFill>
                  <a:srgbClr val="475569"/>
                </a:solidFill>
                <a:latin typeface="Arial"/>
              </a:rPr>
              <a:t>before parallelisation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627632"/>
            <a:ext cx="2606040" cy="1280160"/>
          </a:xfrm>
          <a:prstGeom prst="roundRect">
            <a:avLst/>
          </a:prstGeom>
          <a:solidFill>
            <a:srgbClr val="0C1222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627632"/>
            <a:ext cx="260604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737360"/>
            <a:ext cx="260604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8B5CF6"/>
                </a:solidFill>
                <a:latin typeface="Arial"/>
              </a:rPr>
              <a:t>Zero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286000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rial"/>
              </a:rPr>
              <a:t>Race Conditions</a:t>
            </a:r>
          </a:p>
          <a:p>
            <a:pPr algn="ctr"/>
            <a:r>
              <a:rPr sz="800" b="0">
                <a:solidFill>
                  <a:srgbClr val="475569"/>
                </a:solidFill>
                <a:latin typeface="Arial"/>
              </a:rPr>
              <a:t>custom state reducers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090672"/>
            <a:ext cx="5239512" cy="3310128"/>
          </a:xfrm>
          <a:prstGeom prst="roundRect">
            <a:avLst/>
          </a:prstGeom>
          <a:solidFill>
            <a:srgbClr val="10182A"/>
          </a:solidFill>
          <a:ln w="9525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090672"/>
            <a:ext cx="59436" cy="33101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" y="3255264"/>
            <a:ext cx="4905756" cy="2980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Why Parallel Fan-Out?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▸  Independent Workstreams  </a:t>
            </a:r>
            <a:r>
              <a:rPr b="0" sz="1000">
                <a:solidFill>
                  <a:srgbClr val="F8FAFC"/>
                </a:solidFill>
                <a:latin typeface="Arial"/>
              </a:rPr>
              <a:t>Market Research and Trend Analysis are fully decoupled — no shared data dependencies.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▸  Concurrent Execution  </a:t>
            </a:r>
            <a:r>
              <a:rPr b="0" sz="1000">
                <a:solidFill>
                  <a:srgbClr val="F8FAFC"/>
                </a:solidFill>
                <a:latin typeface="Arial"/>
              </a:rPr>
              <a:t>Both agents fire immediately after the Router, cutting wall-clock latency by 45 %.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▸  Isolated Contexts  </a:t>
            </a:r>
            <a:r>
              <a:rPr b="0" sz="1000">
                <a:solidFill>
                  <a:srgbClr val="F8FAFC"/>
                </a:solidFill>
                <a:latin typeface="Arial"/>
              </a:rPr>
              <a:t>Each agent holds only its own prompt context — no token interference between branches.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▸  Independent Resilience  </a:t>
            </a:r>
            <a:r>
              <a:rPr b="0" sz="1000">
                <a:solidFill>
                  <a:srgbClr val="F8FAFC"/>
                </a:solidFill>
                <a:latin typeface="Arial"/>
              </a:rPr>
              <a:t>A news-fetch delay does not block balance-sheet extraction from completing.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3090672"/>
            <a:ext cx="5239512" cy="3310128"/>
          </a:xfrm>
          <a:prstGeom prst="roundRect">
            <a:avLst/>
          </a:prstGeom>
          <a:solidFill>
            <a:srgbClr val="10182A"/>
          </a:solidFill>
          <a:ln w="9525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5352" y="3090672"/>
            <a:ext cx="59436" cy="33101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1948" y="3255264"/>
            <a:ext cx="4905756" cy="2980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Custom State Reducer Architecture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0B981"/>
                </a:solidFill>
                <a:latin typeface="Arial"/>
              </a:rPr>
              <a:t>▸  The Merge Problem  </a:t>
            </a:r>
            <a:r>
              <a:rPr b="0" sz="1000">
                <a:solidFill>
                  <a:srgbClr val="F8FAFC"/>
                </a:solidFill>
                <a:latin typeface="Arial"/>
              </a:rPr>
              <a:t>Concurrent nodes writing simultaneously trigger InvalidUpdateError in standard LangGraph channels.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0B981"/>
                </a:solidFill>
                <a:latin typeface="Arial"/>
              </a:rPr>
              <a:t>▸  Annotated Reducers  </a:t>
            </a:r>
            <a:r>
              <a:rPr b="0" sz="1000">
                <a:solidFill>
                  <a:srgbClr val="F8FAFC"/>
                </a:solidFill>
                <a:latin typeface="Arial"/>
              </a:rPr>
              <a:t>app/core/state.py uses Annotated[T, _keep_latest] for clean, deterministic dictionary merges.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0B981"/>
                </a:solidFill>
                <a:latin typeface="Arial"/>
              </a:rPr>
              <a:t>▸  Zero Data Loss  </a:t>
            </a:r>
            <a:r>
              <a:rPr b="0" sz="1000">
                <a:solidFill>
                  <a:srgbClr val="F8FAFC"/>
                </a:solidFill>
                <a:latin typeface="Arial"/>
              </a:rPr>
              <a:t>Fan-In at Comparative Valuation smoothly consumes both parallel branch outputs.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0B981"/>
                </a:solidFill>
                <a:latin typeface="Arial"/>
              </a:rPr>
              <a:t>▸  Pydantic Validation  </a:t>
            </a:r>
            <a:r>
              <a:rPr b="0" sz="1000">
                <a:solidFill>
                  <a:srgbClr val="F8FAFC"/>
                </a:solidFill>
                <a:latin typeface="Arial"/>
              </a:rPr>
              <a:t>All merged payloads pass strict schema checks before reaching the Summary Agent.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38BDF8"/>
                </a:solidFill>
                <a:latin typeface="Arial"/>
              </a:rPr>
              <a:t>INSTITUTIONAL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698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rial"/>
              </a:rPr>
              <a:t>Human-in-the-Loop (HITL) Compliance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27632"/>
            <a:ext cx="2560320" cy="477316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468880"/>
            <a:ext cx="24140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080C18"/>
                </a:solidFill>
                <a:latin typeface="Arial"/>
              </a:rPr>
              <a:t>Mandatory
Compliance
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657600"/>
            <a:ext cx="2414016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10182A"/>
                </a:solidFill>
                <a:latin typeface="Arial"/>
              </a:rPr>
              <a:t>No AI-generated
memorandum is
published without
explicit human
analyst sign-off.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27632"/>
            <a:ext cx="8001000" cy="2240280"/>
          </a:xfrm>
          <a:prstGeom prst="roundRect">
            <a:avLst/>
          </a:prstGeom>
          <a:solidFill>
            <a:srgbClr val="10182A"/>
          </a:solidFill>
          <a:ln w="9525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627632"/>
            <a:ext cx="59436" cy="22402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1316" y="1792224"/>
            <a:ext cx="7667244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How the Gate Works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▸  Graph Interruption  </a:t>
            </a:r>
            <a:r>
              <a:rPr b="0" sz="1000">
                <a:solidFill>
                  <a:srgbClr val="F8FAFC"/>
                </a:solidFill>
                <a:latin typeface="Arial"/>
              </a:rPr>
              <a:t>langgraph.types.interrupt() freezes execution before final publishing step.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▸  State Serialization  </a:t>
            </a:r>
            <a:r>
              <a:rPr b="0" sz="1000">
                <a:solidFill>
                  <a:srgbClr val="F8FAFC"/>
                </a:solidFill>
                <a:latin typeface="Arial"/>
              </a:rPr>
              <a:t>MemorySaver writes full graph state to disk under a unique session thread ID.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▸  Analyst Workspace  </a:t>
            </a:r>
            <a:r>
              <a:rPr b="0" sz="1000">
                <a:solidFill>
                  <a:srgbClr val="F8FAFC"/>
                </a:solidFill>
                <a:latin typeface="Arial"/>
              </a:rPr>
              <a:t>Tab 3 dashboard populates with draft rating, risk scores and investment thesis.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▸  Certification  </a:t>
            </a:r>
            <a:r>
              <a:rPr b="0" sz="1000">
                <a:solidFill>
                  <a:srgbClr val="F8FAFC"/>
                </a:solidFill>
                <a:latin typeface="Arial"/>
              </a:rPr>
              <a:t>Analyst reviews, edits and certifies — then execution resumes with audit trail.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4005072"/>
            <a:ext cx="8001000" cy="2212848"/>
          </a:xfrm>
          <a:prstGeom prst="roundRect">
            <a:avLst/>
          </a:prstGeom>
          <a:solidFill>
            <a:srgbClr val="10182A"/>
          </a:solidFill>
          <a:ln w="9525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4005072"/>
            <a:ext cx="59436" cy="22128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1316" y="4169664"/>
            <a:ext cx="7667244" cy="1883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59E0B"/>
                </a:solidFill>
                <a:latin typeface="Arial"/>
              </a:defRPr>
            </a:pPr>
            <a:r>
              <a:t>Engineering Challenges Solved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F59E0B"/>
                </a:solidFill>
                <a:latin typeface="Arial"/>
              </a:rPr>
              <a:t>▸  Streamlit Rerun Context Loss  </a:t>
            </a:r>
            <a:r>
              <a:rPr b="0" sz="1000">
                <a:solidFill>
                  <a:srgbClr val="F8FAFC"/>
                </a:solidFill>
                <a:latin typeface="Arial"/>
              </a:rPr>
              <a:t>Streamlit rewrites in-memory state on every click — solved by persisting thread ID in st.session_state.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F59E0B"/>
                </a:solidFill>
                <a:latin typeface="Arial"/>
              </a:rPr>
              <a:t>▸  Clean Graph Resumption  </a:t>
            </a:r>
            <a:r>
              <a:rPr b="0" sz="1000">
                <a:solidFill>
                  <a:srgbClr val="F8FAFC"/>
                </a:solidFill>
                <a:latin typeface="Arial"/>
              </a:rPr>
              <a:t>Command(resume=payload) replays from saved checkpoint without re-running earlier agents.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F59E0B"/>
                </a:solidFill>
                <a:latin typeface="Arial"/>
              </a:rPr>
              <a:t>▸  Lead Engineers  </a:t>
            </a:r>
            <a:r>
              <a:rPr b="0" sz="1000">
                <a:solidFill>
                  <a:srgbClr val="F8FAFC"/>
                </a:solidFill>
                <a:latin typeface="Arial"/>
              </a:rPr>
              <a:t>Sagar Trimukhe (UI &amp; State Binding) · Ganesh Swami (LangGraph Interrupt Protocol)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38BDF8"/>
                </a:solidFill>
                <a:latin typeface="Arial"/>
              </a:rPr>
              <a:t>CIO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698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rial"/>
              </a:rPr>
              <a:t>Summary Agent &amp; Quantitative Risk Modeling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27632"/>
            <a:ext cx="5239512" cy="4773168"/>
          </a:xfrm>
          <a:prstGeom prst="roundRect">
            <a:avLst/>
          </a:prstGeom>
          <a:solidFill>
            <a:srgbClr val="10182A"/>
          </a:solidFill>
          <a:ln w="9525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27632"/>
            <a:ext cx="59436" cy="47731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" y="1792224"/>
            <a:ext cx="4905756" cy="4443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Investment Thesis Synthesis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▸  Holistic Blending  </a:t>
            </a:r>
            <a:r>
              <a:rPr b="0" sz="1000">
                <a:solidFill>
                  <a:srgbClr val="F8FAFC"/>
                </a:solidFill>
                <a:latin typeface="Arial"/>
              </a:rPr>
              <a:t>Merges 10-K fundamentals, macro catalysts, and peer valuation multiples.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▸  BUY / HOLD / SELL  </a:t>
            </a:r>
            <a:r>
              <a:rPr b="0" sz="1000">
                <a:solidFill>
                  <a:srgbClr val="F8FAFC"/>
                </a:solidFill>
                <a:latin typeface="Arial"/>
              </a:rPr>
              <a:t>Delivers an unambiguous recommendation and 12-month target price.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▸  Bull &amp; Bear Case  </a:t>
            </a:r>
            <a:r>
              <a:rPr b="0" sz="1000">
                <a:solidFill>
                  <a:srgbClr val="F8FAFC"/>
                </a:solidFill>
                <a:latin typeface="Arial"/>
              </a:rPr>
              <a:t>Structures competitive moats against primary risk factors.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▸  Regex Sanitization  </a:t>
            </a:r>
            <a:r>
              <a:rPr b="0" sz="1000">
                <a:solidFill>
                  <a:srgbClr val="F8FAFC"/>
                </a:solidFill>
                <a:latin typeface="Arial"/>
              </a:rPr>
              <a:t>Strips currency symbols from LLM strings to ensure strict numeric casting.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▸  Lead Engineers  </a:t>
            </a:r>
            <a:r>
              <a:rPr b="0" sz="1000">
                <a:solidFill>
                  <a:srgbClr val="F8FAFC"/>
                </a:solidFill>
                <a:latin typeface="Arial"/>
              </a:rPr>
              <a:t>Shradha Gaikwad (Agent) · Ganesh Swami (State Integration)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627632"/>
            <a:ext cx="5239512" cy="4773168"/>
          </a:xfrm>
          <a:prstGeom prst="roundRect">
            <a:avLst/>
          </a:prstGeom>
          <a:solidFill>
            <a:srgbClr val="10182A"/>
          </a:solidFill>
          <a:ln w="9525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5352" y="1627632"/>
            <a:ext cx="59436" cy="4773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1948" y="1792224"/>
            <a:ext cx="4905756" cy="4443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Quantitative Risk Integration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0B981"/>
                </a:solidFill>
                <a:latin typeface="Arial"/>
              </a:rPr>
              <a:t>▸  Annualized Volatility  </a:t>
            </a:r>
            <a:r>
              <a:rPr b="0" sz="1000">
                <a:solidFill>
                  <a:srgbClr val="F8FAFC"/>
                </a:solidFill>
                <a:latin typeface="Arial"/>
              </a:rPr>
              <a:t>Daily return dispersion scaled across 252 active annual trading sessions.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0B981"/>
                </a:solidFill>
                <a:latin typeface="Arial"/>
              </a:rPr>
              <a:t>▸  252-Day Correction  </a:t>
            </a:r>
            <a:r>
              <a:rPr b="0" sz="1000">
                <a:solidFill>
                  <a:srgbClr val="F8FAFC"/>
                </a:solidFill>
                <a:latin typeface="Arial"/>
              </a:rPr>
              <a:t>Calculations exclude market holidays and weekends to prevent skew.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0B981"/>
                </a:solidFill>
                <a:latin typeface="Arial"/>
              </a:rPr>
              <a:t>▸  Empirical Validation  </a:t>
            </a:r>
            <a:r>
              <a:rPr b="0" sz="1000">
                <a:solidFill>
                  <a:srgbClr val="F8FAFC"/>
                </a:solidFill>
                <a:latin typeface="Arial"/>
              </a:rPr>
              <a:t>AAPL 1-year volatility computed at 19.4 % — within Bloomberg institutional range.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0B981"/>
                </a:solidFill>
                <a:latin typeface="Arial"/>
              </a:rPr>
              <a:t>▸  Maximum Drawdown  </a:t>
            </a:r>
            <a:r>
              <a:rPr b="0" sz="1000">
                <a:solidFill>
                  <a:srgbClr val="F8FAFC"/>
                </a:solidFill>
                <a:latin typeface="Arial"/>
              </a:rPr>
              <a:t>Tracks largest historical peak-to-trough price decline for downside risk profiling.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0B981"/>
                </a:solidFill>
                <a:latin typeface="Arial"/>
              </a:rPr>
              <a:t>▸  Risk Tier Flags  </a:t>
            </a:r>
            <a:r>
              <a:rPr b="0" sz="1000">
                <a:solidFill>
                  <a:srgbClr val="F8FAFC"/>
                </a:solidFill>
                <a:latin typeface="Arial"/>
              </a:rPr>
              <a:t>Auto-classifies equities as Low · Moderate · High volatility for portfolio committees.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200" b="1">
                <a:solidFill>
                  <a:srgbClr val="22173D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Arial"/>
              </a:rPr>
              <a:t>Data Layer — Vector RAG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rial"/>
              </a:rPr>
              <a:t>SEC EDGAR · ChromaDB · Gemini Embeddings · Zero-Hallucination Retrieval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434840"/>
            <a:ext cx="3108960" cy="228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38BDF8"/>
                </a:solidFill>
                <a:latin typeface="Arial"/>
              </a:rPr>
              <a:t>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698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rial"/>
              </a:rPr>
              <a:t>SEC Filings &amp; Dense Vector RAG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27632"/>
            <a:ext cx="2633472" cy="4754880"/>
          </a:xfrm>
          <a:prstGeom prst="roundRect">
            <a:avLst/>
          </a:prstGeom>
          <a:solidFill>
            <a:srgbClr val="1018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27632"/>
            <a:ext cx="263347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19072"/>
            <a:ext cx="24505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38BDF8"/>
                </a:solidFill>
                <a:latin typeface="Arial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30552"/>
            <a:ext cx="24505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rial"/>
              </a:rPr>
              <a:t>Acquire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42032"/>
            <a:ext cx="245059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38BDF8"/>
                </a:solidFill>
                <a:latin typeface="Arial"/>
              </a:rPr>
              <a:t>SEC EDGAR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926080"/>
            <a:ext cx="2267712" cy="18288"/>
          </a:xfrm>
          <a:prstGeom prst="rect">
            <a:avLst/>
          </a:prstGeom>
          <a:solidFill>
            <a:srgbClr val="1E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072384"/>
            <a:ext cx="2304288" cy="3127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Arial"/>
              </a:rPr>
              <a:t>▸  Official 10-K / 10-K/A / 20-F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Arial"/>
              </a:rPr>
              <a:t>▸  Accession number tracking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Arial"/>
              </a:rPr>
              <a:t>▸  Gzip-stream decompression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Arial"/>
              </a:rPr>
              <a:t>▸  HTTP 403 user-agent fix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3572" y="1627632"/>
            <a:ext cx="2633472" cy="4754880"/>
          </a:xfrm>
          <a:prstGeom prst="roundRect">
            <a:avLst/>
          </a:prstGeom>
          <a:solidFill>
            <a:srgbClr val="1018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3572" y="1627632"/>
            <a:ext cx="263347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5012" y="1719072"/>
            <a:ext cx="24505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Arial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5012" y="2130552"/>
            <a:ext cx="24505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rial"/>
              </a:rPr>
              <a:t>Chunk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5012" y="2542032"/>
            <a:ext cx="245059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10B981"/>
                </a:solidFill>
                <a:latin typeface="Arial"/>
              </a:rPr>
              <a:t>Structure-Aware Split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6452" y="2926080"/>
            <a:ext cx="2267712" cy="18288"/>
          </a:xfrm>
          <a:prstGeom prst="rect">
            <a:avLst/>
          </a:prstGeom>
          <a:solidFill>
            <a:srgbClr val="1E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8164" y="3072384"/>
            <a:ext cx="2304288" cy="3127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Arial"/>
              </a:rPr>
              <a:t>▸  1,500 chars · 150 overlap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Arial"/>
              </a:rPr>
              <a:t>▸  Double-newline priority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Arial"/>
              </a:rPr>
              <a:t>▸  Financial table row integrity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Arial"/>
              </a:rPr>
              <a:t>▸  UTF-8 normalisation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35624" y="1627632"/>
            <a:ext cx="2633472" cy="4754880"/>
          </a:xfrm>
          <a:prstGeom prst="roundRect">
            <a:avLst/>
          </a:prstGeom>
          <a:solidFill>
            <a:srgbClr val="10182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35624" y="1627632"/>
            <a:ext cx="263347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7064" y="1719072"/>
            <a:ext cx="24505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8B5CF6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7064" y="2130552"/>
            <a:ext cx="24505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rial"/>
              </a:rPr>
              <a:t>Embed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7064" y="2542032"/>
            <a:ext cx="245059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8B5CF6"/>
                </a:solidFill>
                <a:latin typeface="Arial"/>
              </a:rPr>
              <a:t>Gemini text-embedding-004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18504" y="2926080"/>
            <a:ext cx="2267712" cy="18288"/>
          </a:xfrm>
          <a:prstGeom prst="rect">
            <a:avLst/>
          </a:prstGeom>
          <a:solidFill>
            <a:srgbClr val="1E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0216" y="3072384"/>
            <a:ext cx="2304288" cy="3127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Arial"/>
              </a:rPr>
              <a:t>▸  3,072-dimensional vectors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Arial"/>
              </a:rPr>
              <a:t>▸  Financial semantic capture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Arial"/>
              </a:rPr>
              <a:t>▸  Strict ticker metadata tag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Arial"/>
              </a:rPr>
              <a:t>▸  Cosine similarity optimised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7676" y="1627632"/>
            <a:ext cx="2633472" cy="4754880"/>
          </a:xfrm>
          <a:prstGeom prst="roundRect">
            <a:avLst/>
          </a:prstGeom>
          <a:solidFill>
            <a:srgbClr val="1018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37676" y="1627632"/>
            <a:ext cx="263347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29116" y="1719072"/>
            <a:ext cx="24505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3B82F6"/>
                </a:solidFill>
                <a:latin typeface="Arial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29116" y="2130552"/>
            <a:ext cx="24505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rial"/>
              </a:rPr>
              <a:t>Retrieve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29116" y="2542032"/>
            <a:ext cx="245059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3B82F6"/>
                </a:solidFill>
                <a:latin typeface="Arial"/>
              </a:rPr>
              <a:t>ChromaDB Vector Store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20556" y="2926080"/>
            <a:ext cx="2267712" cy="18288"/>
          </a:xfrm>
          <a:prstGeom prst="rect">
            <a:avLst/>
          </a:prstGeom>
          <a:solidFill>
            <a:srgbClr val="1E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02268" y="3072384"/>
            <a:ext cx="2304288" cy="3127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Arial"/>
              </a:rPr>
              <a:t>▸  filter={'ticker': target}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Arial"/>
              </a:rPr>
              <a:t>▸  Zero cross-stock leakage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Arial"/>
              </a:rPr>
              <a:t>▸  &lt; 50 ms query latency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Arial"/>
              </a:rPr>
              <a:t>▸  Verbatim context grounding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200" b="1">
                <a:solidFill>
                  <a:srgbClr val="0E203D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Arial"/>
              </a:rPr>
              <a:t>Technology Stack &amp; AWS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rial"/>
              </a:rPr>
              <a:t>Framework Decisions · Cloud Hosting · Containerisation · Cost Efficiency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434840"/>
            <a:ext cx="3108960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38BDF8"/>
                </a:solidFill>
                <a:latin typeface="Arial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698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rial"/>
              </a:rPr>
              <a:t>Framework Selection &amp; Architectural Justification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27632"/>
          <a:ext cx="10728655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94560"/>
                <a:gridCol w="2103120"/>
                <a:gridCol w="4327855"/>
              </a:tblGrid>
              <a:tr h="59664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Layer</a:t>
                      </a:r>
                    </a:p>
                  </a:txBody>
                  <a:tcPr marL="118872" marR="118872" marT="73152" marB="73152">
                    <a:solidFill>
                      <a:srgbClr val="0a101e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Selected</a:t>
                      </a:r>
                    </a:p>
                  </a:txBody>
                  <a:tcPr marL="118872" marR="118872" marT="73152" marB="73152">
                    <a:solidFill>
                      <a:srgbClr val="0a101e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Alternative</a:t>
                      </a:r>
                    </a:p>
                  </a:txBody>
                  <a:tcPr marL="118872" marR="118872" marT="73152" marB="73152">
                    <a:solidFill>
                      <a:srgbClr val="0a101e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Why This Choice?</a:t>
                      </a:r>
                    </a:p>
                  </a:txBody>
                  <a:tcPr marL="118872" marR="118872" marT="73152" marB="73152">
                    <a:solidFill>
                      <a:srgbClr val="0a101e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</a:tr>
              <a:tr h="59664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Agent Orchestration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LangGraph ^0.2.20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CrewAI / AutoGen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Native interrupt() for HITL, stateful DAG, persistent thread checkpointing.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</a:tr>
              <a:tr h="59664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LLM Inference</a:t>
                      </a:r>
                    </a:p>
                  </a:txBody>
                  <a:tcPr marL="118872" marR="118872" marT="73152" marB="73152">
                    <a:solidFill>
                      <a:srgbClr val="0c1222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Gemini 2.5 Flash</a:t>
                      </a:r>
                    </a:p>
                  </a:txBody>
                  <a:tcPr marL="118872" marR="118872" marT="73152" marB="73152">
                    <a:solidFill>
                      <a:srgbClr val="0c1222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GPT-4o / Claude</a:t>
                      </a:r>
                    </a:p>
                  </a:txBody>
                  <a:tcPr marL="118872" marR="118872" marT="73152" marB="73152">
                    <a:solidFill>
                      <a:srgbClr val="0c1222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Fast inference, generous context window, &lt; $0.003 per full research run.</a:t>
                      </a:r>
                    </a:p>
                  </a:txBody>
                  <a:tcPr marL="118872" marR="118872" marT="73152" marB="73152">
                    <a:solidFill>
                      <a:srgbClr val="0c1222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</a:tr>
              <a:tr h="59664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Vector DB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ChromaDB ^0.5.5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Pinecone / FAISS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Embedded persistence, no external cloud dependency, strict metadata isolation.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</a:tr>
              <a:tr h="59664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Frontend</a:t>
                      </a:r>
                    </a:p>
                  </a:txBody>
                  <a:tcPr marL="118872" marR="118872" marT="73152" marB="73152">
                    <a:solidFill>
                      <a:srgbClr val="0c1222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Streamlit ^1.38</a:t>
                      </a:r>
                    </a:p>
                  </a:txBody>
                  <a:tcPr marL="118872" marR="118872" marT="73152" marB="73152">
                    <a:solidFill>
                      <a:srgbClr val="0c1222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FastAPI + React</a:t>
                      </a:r>
                    </a:p>
                  </a:txBody>
                  <a:tcPr marL="118872" marR="118872" marT="73152" marB="73152">
                    <a:solidFill>
                      <a:srgbClr val="0c1222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Rapid prototyping, built-in session state, native progress streaming.</a:t>
                      </a:r>
                    </a:p>
                  </a:txBody>
                  <a:tcPr marL="118872" marR="118872" marT="73152" marB="73152">
                    <a:solidFill>
                      <a:srgbClr val="0c1222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</a:tr>
              <a:tr h="59664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Cloud Compute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AWS EC2 t3.medium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Lambda / Fargate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Persistent ChromaDB disk cache, predictable cost, systemd stability.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</a:tr>
              <a:tr h="59664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Object Storage</a:t>
                      </a:r>
                    </a:p>
                  </a:txBody>
                  <a:tcPr marL="118872" marR="118872" marT="73152" marB="73152">
                    <a:solidFill>
                      <a:srgbClr val="0c1222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AWS S3 (boto3)</a:t>
                      </a:r>
                    </a:p>
                  </a:txBody>
                  <a:tcPr marL="118872" marR="118872" marT="73152" marB="73152">
                    <a:solidFill>
                      <a:srgbClr val="0c1222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Local Disk Only</a:t>
                      </a:r>
                    </a:p>
                  </a:txBody>
                  <a:tcPr marL="118872" marR="118872" marT="73152" marB="73152">
                    <a:solidFill>
                      <a:srgbClr val="0c1222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Durable 10-K filing archive and certified report storage with graceful fallback.</a:t>
                      </a:r>
                    </a:p>
                  </a:txBody>
                  <a:tcPr marL="118872" marR="118872" marT="73152" marB="73152">
                    <a:solidFill>
                      <a:srgbClr val="0c1222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</a:tr>
              <a:tr h="59664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Containerisation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Docker Compose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Kubernetes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Hermetic multi-service packaging; one-command local and cloud deploy.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200" b="1">
                <a:solidFill>
                  <a:srgbClr val="3D2702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Arial"/>
              </a:rPr>
              <a:t>Performance &amp; Benchmarking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rial"/>
              </a:rPr>
              <a:t>Speed · Cost · Accuracy · Reliability — Validated Against Industry Baselines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434840"/>
            <a:ext cx="3108960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38BDF8"/>
                </a:solidFill>
                <a:latin typeface="Arial"/>
              </a:rPr>
              <a:t>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698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rial"/>
              </a:rPr>
              <a:t>System Performance &amp; Verification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27632"/>
            <a:ext cx="2606040" cy="1389888"/>
          </a:xfrm>
          <a:prstGeom prst="roundRect">
            <a:avLst/>
          </a:prstGeom>
          <a:solidFill>
            <a:srgbClr val="0C122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27632"/>
            <a:ext cx="260604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260604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38BDF8"/>
                </a:solidFill>
                <a:latin typeface="Arial"/>
              </a:rPr>
              <a:t>45 %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rial"/>
              </a:rPr>
              <a:t>Faster Research</a:t>
            </a:r>
          </a:p>
          <a:p>
            <a:pPr algn="ctr"/>
            <a:r>
              <a:rPr sz="800" b="0">
                <a:solidFill>
                  <a:srgbClr val="475569"/>
                </a:solidFill>
                <a:latin typeface="Arial"/>
              </a:rPr>
              <a:t>vs sequential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627632"/>
            <a:ext cx="2606040" cy="1389888"/>
          </a:xfrm>
          <a:prstGeom prst="roundRect">
            <a:avLst/>
          </a:prstGeom>
          <a:solidFill>
            <a:srgbClr val="0C122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627632"/>
            <a:ext cx="260604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737360"/>
            <a:ext cx="260604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10B981"/>
                </a:solidFill>
                <a:latin typeface="Arial"/>
              </a:rPr>
              <a:t>&lt; $0.003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286000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rial"/>
              </a:rPr>
              <a:t>Cost per Full Run</a:t>
            </a:r>
          </a:p>
          <a:p>
            <a:pPr algn="ctr"/>
            <a:r>
              <a:rPr sz="800" b="0">
                <a:solidFill>
                  <a:srgbClr val="475569"/>
                </a:solidFill>
                <a:latin typeface="Arial"/>
              </a:rPr>
              <a:t>Gemini Flash inference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27632"/>
            <a:ext cx="2606040" cy="1389888"/>
          </a:xfrm>
          <a:prstGeom prst="roundRect">
            <a:avLst/>
          </a:prstGeom>
          <a:solidFill>
            <a:srgbClr val="0C122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627632"/>
            <a:ext cx="260604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737360"/>
            <a:ext cx="260604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F59E0B"/>
                </a:solidFill>
                <a:latin typeface="Arial"/>
              </a:rPr>
              <a:t>19.4 %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286000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rial"/>
              </a:rPr>
              <a:t>AAPL Volatility Match</a:t>
            </a:r>
          </a:p>
          <a:p>
            <a:pPr algn="ctr"/>
            <a:r>
              <a:rPr sz="800" b="0">
                <a:solidFill>
                  <a:srgbClr val="475569"/>
                </a:solidFill>
                <a:latin typeface="Arial"/>
              </a:rPr>
              <a:t>Bloomberg 18–20 % range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627632"/>
            <a:ext cx="2606040" cy="1389888"/>
          </a:xfrm>
          <a:prstGeom prst="roundRect">
            <a:avLst/>
          </a:prstGeom>
          <a:solidFill>
            <a:srgbClr val="0C1222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627632"/>
            <a:ext cx="260604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737360"/>
            <a:ext cx="260604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8B5CF6"/>
                </a:solidFill>
                <a:latin typeface="Arial"/>
              </a:rPr>
              <a:t>100 %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286000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rial"/>
              </a:rPr>
              <a:t>Test Suite Pass Rate</a:t>
            </a:r>
          </a:p>
          <a:p>
            <a:pPr algn="ctr"/>
            <a:r>
              <a:rPr sz="800" b="0">
                <a:solidFill>
                  <a:srgbClr val="475569"/>
                </a:solidFill>
                <a:latin typeface="Arial"/>
              </a:rPr>
              <a:t>end-to-end integration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31520" y="3200400"/>
          <a:ext cx="1072865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286000"/>
                <a:gridCol w="2286000"/>
                <a:gridCol w="3779215"/>
              </a:tblGrid>
              <a:tr h="6400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L="118872" marR="118872" marT="73152" marB="73152">
                    <a:solidFill>
                      <a:srgbClr val="0a101e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System Result</a:t>
                      </a:r>
                    </a:p>
                  </a:txBody>
                  <a:tcPr marL="118872" marR="118872" marT="73152" marB="73152">
                    <a:solidFill>
                      <a:srgbClr val="0a101e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Baseline</a:t>
                      </a:r>
                    </a:p>
                  </a:txBody>
                  <a:tcPr marL="118872" marR="118872" marT="73152" marB="73152">
                    <a:solidFill>
                      <a:srgbClr val="0a101e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Outcome &amp; Impact</a:t>
                      </a:r>
                    </a:p>
                  </a:txBody>
                  <a:tcPr marL="118872" marR="118872" marT="73152" marB="73152">
                    <a:solidFill>
                      <a:srgbClr val="0a101e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Analysis Latency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13.2 s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24.5 s sequential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45.7 % reduction via concurrent agent fan-out.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Token Efficiency</a:t>
                      </a:r>
                    </a:p>
                  </a:txBody>
                  <a:tcPr marL="118872" marR="118872" marT="73152" marB="73152">
                    <a:solidFill>
                      <a:srgbClr val="0c1222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4,200 tokens</a:t>
                      </a:r>
                    </a:p>
                  </a:txBody>
                  <a:tcPr marL="118872" marR="118872" marT="73152" marB="73152">
                    <a:solidFill>
                      <a:srgbClr val="0c1222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14,500 chat loop</a:t>
                      </a:r>
                    </a:p>
                  </a:txBody>
                  <a:tcPr marL="118872" marR="118872" marT="73152" marB="73152">
                    <a:solidFill>
                      <a:srgbClr val="0c1222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71 % token cut — isolated single-agent contexts.</a:t>
                      </a:r>
                    </a:p>
                  </a:txBody>
                  <a:tcPr marL="118872" marR="118872" marT="73152" marB="73152">
                    <a:solidFill>
                      <a:srgbClr val="0c1222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Inference Cost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$0.0028 / run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$0.08+ (GPT-4o)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96.5 % cost reduction using Gemini Flash.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Volatility Accuracy</a:t>
                      </a:r>
                    </a:p>
                  </a:txBody>
                  <a:tcPr marL="118872" marR="118872" marT="73152" marB="73152">
                    <a:solidFill>
                      <a:srgbClr val="0c1222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19.4 % (AAPL)</a:t>
                      </a:r>
                    </a:p>
                  </a:txBody>
                  <a:tcPr marL="118872" marR="118872" marT="73152" marB="73152">
                    <a:solidFill>
                      <a:srgbClr val="0c1222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18.5–20.0 % BBG</a:t>
                      </a:r>
                    </a:p>
                  </a:txBody>
                  <a:tcPr marL="118872" marR="118872" marT="73152" marB="73152">
                    <a:solidFill>
                      <a:srgbClr val="0c1222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Institutional parity on 252-trading-day window.</a:t>
                      </a:r>
                    </a:p>
                  </a:txBody>
                  <a:tcPr marL="118872" marR="118872" marT="73152" marB="73152">
                    <a:solidFill>
                      <a:srgbClr val="0c1222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38BDF8"/>
                </a:solidFill>
                <a:latin typeface="Arial"/>
              </a:rPr>
              <a:t>TEAM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698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rial"/>
              </a:rPr>
              <a:t>Individual Engineering Attribution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27632"/>
          <a:ext cx="10728655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40"/>
                <a:gridCol w="4206240"/>
                <a:gridCol w="2133295"/>
              </a:tblGrid>
              <a:tr h="7955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Team Member</a:t>
                      </a:r>
                    </a:p>
                  </a:txBody>
                  <a:tcPr marL="118872" marR="118872" marT="73152" marB="73152">
                    <a:solidFill>
                      <a:srgbClr val="0a101e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Primary Domain</a:t>
                      </a:r>
                    </a:p>
                  </a:txBody>
                  <a:tcPr marL="118872" marR="118872" marT="73152" marB="73152">
                    <a:solidFill>
                      <a:srgbClr val="0a101e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Key Contributions</a:t>
                      </a:r>
                    </a:p>
                  </a:txBody>
                  <a:tcPr marL="118872" marR="118872" marT="73152" marB="73152">
                    <a:solidFill>
                      <a:srgbClr val="0a101e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Core Modules</a:t>
                      </a:r>
                    </a:p>
                  </a:txBody>
                  <a:tcPr marL="118872" marR="118872" marT="73152" marB="73152">
                    <a:solidFill>
                      <a:srgbClr val="0a101e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Ganesh Swami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Backend &amp; Cloud Lead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LangGraph DAG topology · Parallel fan-out reducers · HITL interrupt gate · AWS EC2 setup script · S3 client · Docker Compose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workflow_service.py</a:t>
                      </a:r>
                      <a:br/>
                      <a:r>
                        <a:t>state.py · hitl_review.py</a:t>
                      </a:r>
                      <a:br/>
                      <a:r>
                        <a:t>setup_ec2.sh · s3_client.py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Shradha Gaikwad</a:t>
                      </a:r>
                    </a:p>
                  </a:txBody>
                  <a:tcPr marL="118872" marR="118872" marT="73152" marB="73152">
                    <a:solidFill>
                      <a:srgbClr val="0c1222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Financial Modeling Lead</a:t>
                      </a:r>
                    </a:p>
                  </a:txBody>
                  <a:tcPr marL="118872" marR="118872" marT="73152" marB="73152">
                    <a:solidFill>
                      <a:srgbClr val="0c1222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Market Research Agent · Summary Agent thesis synthesis · 252-day volatility &amp; drawdown modeling · Pydantic schemas · Regex sanitizers</a:t>
                      </a:r>
                    </a:p>
                  </a:txBody>
                  <a:tcPr marL="118872" marR="118872" marT="73152" marB="73152">
                    <a:solidFill>
                      <a:srgbClr val="0c1222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market_research.py</a:t>
                      </a:r>
                      <a:br/>
                      <a:r>
                        <a:t>summary_agent.py</a:t>
                      </a:r>
                      <a:br/>
                      <a:r>
                        <a:t>financial.py · report.py</a:t>
                      </a:r>
                    </a:p>
                  </a:txBody>
                  <a:tcPr marL="118872" marR="118872" marT="73152" marB="73152">
                    <a:solidFill>
                      <a:srgbClr val="0c1222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Sagar Trimukhe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Frontend &amp; HITL Lead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3-Tab Streamlit dashboard · Docker containerisation · Trend Analysis co-lead · AWS S3 integration · Real-time node streamer · HITL state binding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app/main.py · Dockerfile</a:t>
                      </a:r>
                      <a:br/>
                      <a:r>
                        <a:t>trend_analysis.py</a:t>
                      </a:r>
                      <a:br/>
                      <a:r>
                        <a:t>export_service.py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Nilanjan Das</a:t>
                      </a:r>
                    </a:p>
                  </a:txBody>
                  <a:tcPr marL="118872" marR="118872" marT="73152" marB="73152">
                    <a:solidFill>
                      <a:srgbClr val="0c1222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Data Engineering Lead</a:t>
                      </a:r>
                    </a:p>
                  </a:txBody>
                  <a:tcPr marL="118872" marR="118872" marT="73152" marB="73152">
                    <a:solidFill>
                      <a:srgbClr val="0c1222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270-stock NASDAQ catalog · SEC EDGAR 10-K ingestion · ChromaDB vector store · Trend &amp; Sentiment Agent co-lead · Recursive text splitting</a:t>
                      </a:r>
                    </a:p>
                  </a:txBody>
                  <a:tcPr marL="118872" marR="118872" marT="73152" marB="73152">
                    <a:solidFill>
                      <a:srgbClr val="0c1222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nasdaq_universe.py</a:t>
                      </a:r>
                      <a:br/>
                      <a:r>
                        <a:t>fetch_real_10k_filings.py</a:t>
                      </a:r>
                      <a:br/>
                      <a:r>
                        <a:t>document_ingestion.py</a:t>
                      </a:r>
                    </a:p>
                  </a:txBody>
                  <a:tcPr marL="118872" marR="118872" marT="73152" marB="73152">
                    <a:solidFill>
                      <a:srgbClr val="0c1222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Nikhil Gaikwad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Integration &amp; QA Lead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Comparative Valuation Agent · yfinance live telemetry · Rate-limit backoff engine · Timezone DatetimeIndex fix · Automated test suite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comparative_analysis.py</a:t>
                      </a:r>
                      <a:br/>
                      <a:r>
                        <a:t>market_data.py</a:t>
                      </a:r>
                      <a:br/>
                      <a:r>
                        <a:t>financial_tools.py</a:t>
                      </a:r>
                    </a:p>
                  </a:txBody>
                  <a:tcPr marL="118872" marR="118872" marT="73152" marB="73152">
                    <a:solidFill>
                      <a:srgbClr val="10182a"/>
                    </a:solidFill>
                    <a:lnL w="9525" cmpd="s">
                      <a:solidFill>
                        <a:srgbClr val="1E304A"/>
                      </a:solidFill>
                    </a:lnL>
                    <a:lnR w="9525" cmpd="s">
                      <a:solidFill>
                        <a:srgbClr val="1E304A"/>
                      </a:solidFill>
                    </a:lnR>
                    <a:lnT w="9525" cmpd="s">
                      <a:solidFill>
                        <a:srgbClr val="1E304A"/>
                      </a:solidFill>
                    </a:lnT>
                    <a:lnB w="9525" cmpd="s">
                      <a:solidFill>
                        <a:srgbClr val="1E304A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38BDF8"/>
                </a:solidFill>
                <a:latin typeface="Arial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698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rial"/>
              </a:rPr>
              <a:t>Key Achievements &amp; Defense 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27632"/>
            <a:ext cx="2606040" cy="1325880"/>
          </a:xfrm>
          <a:prstGeom prst="roundRect">
            <a:avLst/>
          </a:prstGeom>
          <a:solidFill>
            <a:srgbClr val="0C122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27632"/>
            <a:ext cx="260604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260604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38BDF8"/>
                </a:solidFill>
                <a:latin typeface="Arial"/>
              </a:rPr>
              <a:t>Production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rial"/>
              </a:rPr>
              <a:t>Stateful multi-agent DAG — not a chatbot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627632"/>
            <a:ext cx="2606040" cy="1325880"/>
          </a:xfrm>
          <a:prstGeom prst="roundRect">
            <a:avLst/>
          </a:prstGeom>
          <a:solidFill>
            <a:srgbClr val="0C122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627632"/>
            <a:ext cx="260604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737360"/>
            <a:ext cx="260604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10B981"/>
                </a:solidFill>
                <a:latin typeface="Arial"/>
              </a:rPr>
              <a:t>Zero Unverified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286000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rial"/>
              </a:rPr>
              <a:t>Every memo requires human certification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27632"/>
            <a:ext cx="2606040" cy="1325880"/>
          </a:xfrm>
          <a:prstGeom prst="roundRect">
            <a:avLst/>
          </a:prstGeom>
          <a:solidFill>
            <a:srgbClr val="0C122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627632"/>
            <a:ext cx="260604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737360"/>
            <a:ext cx="260604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F59E0B"/>
                </a:solidFill>
                <a:latin typeface="Arial"/>
              </a:rPr>
              <a:t>45 % Faster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286000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rial"/>
              </a:rPr>
              <a:t>Parallel fan-out execution architecture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627632"/>
            <a:ext cx="2606040" cy="1325880"/>
          </a:xfrm>
          <a:prstGeom prst="roundRect">
            <a:avLst/>
          </a:prstGeom>
          <a:solidFill>
            <a:srgbClr val="0C1222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627632"/>
            <a:ext cx="260604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737360"/>
            <a:ext cx="260604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8B5CF6"/>
                </a:solidFill>
                <a:latin typeface="Arial"/>
              </a:rPr>
              <a:t>&lt; $0.003 /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286000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rial"/>
              </a:rPr>
              <a:t>96 % cost reduction vs GPT-4o workflows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127248"/>
            <a:ext cx="5239512" cy="3273552"/>
          </a:xfrm>
          <a:prstGeom prst="roundRect">
            <a:avLst/>
          </a:prstGeom>
          <a:solidFill>
            <a:srgbClr val="10182A"/>
          </a:solidFill>
          <a:ln w="9525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127248"/>
            <a:ext cx="59436" cy="32735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" y="3291840"/>
            <a:ext cx="4905756" cy="2944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What We Delivered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▸  Production-Grade DAG  </a:t>
            </a:r>
            <a:r>
              <a:rPr b="0" sz="1000">
                <a:solidFill>
                  <a:srgbClr val="F8FAFC"/>
                </a:solidFill>
                <a:latin typeface="Arial"/>
              </a:rPr>
              <a:t>Full LangGraph stateful workflow, not a chatbot loop.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▸  Audited Data Grounding  </a:t>
            </a:r>
            <a:r>
              <a:rPr b="0" sz="1000">
                <a:solidFill>
                  <a:srgbClr val="F8FAFC"/>
                </a:solidFill>
                <a:latin typeface="Arial"/>
              </a:rPr>
              <a:t>Verbatim SEC 10-K retrieval via ChromaDB RAG.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▸  AWS Cloud Deployment  </a:t>
            </a:r>
            <a:r>
              <a:rPr b="0" sz="1000">
                <a:solidFill>
                  <a:srgbClr val="F8FAFC"/>
                </a:solidFill>
                <a:latin typeface="Arial"/>
              </a:rPr>
              <a:t>Fully containerised on EC2 with S3 document archiving.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▸  Governance Compliance  </a:t>
            </a:r>
            <a:r>
              <a:rPr b="0" sz="1000">
                <a:solidFill>
                  <a:srgbClr val="F8FAFC"/>
                </a:solidFill>
                <a:latin typeface="Arial"/>
              </a:rPr>
              <a:t>HITL gate ensures zero unverified AI dissemination.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3127248"/>
            <a:ext cx="5239512" cy="3273552"/>
          </a:xfrm>
          <a:prstGeom prst="roundRect">
            <a:avLst/>
          </a:prstGeom>
          <a:solidFill>
            <a:srgbClr val="10182A"/>
          </a:solidFill>
          <a:ln w="9525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5352" y="3127248"/>
            <a:ext cx="59436" cy="32735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1948" y="3291840"/>
            <a:ext cx="4905756" cy="2944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Future Roadmap &amp; Q&amp;A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0B981"/>
                </a:solidFill>
                <a:latin typeface="Arial"/>
              </a:rPr>
              <a:t>▸  Multi-Modal Parsing  </a:t>
            </a:r>
            <a:r>
              <a:rPr b="0" sz="1000">
                <a:solidFill>
                  <a:srgbClr val="F8FAFC"/>
                </a:solidFill>
                <a:latin typeface="Arial"/>
              </a:rPr>
              <a:t>Vision models for charts and non-standard financial schedules.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0B981"/>
                </a:solidFill>
                <a:latin typeface="Arial"/>
              </a:rPr>
              <a:t>▸  Live Earnings Audio  </a:t>
            </a:r>
            <a:r>
              <a:rPr b="0" sz="1000">
                <a:solidFill>
                  <a:srgbClr val="F8FAFC"/>
                </a:solidFill>
                <a:latin typeface="Arial"/>
              </a:rPr>
              <a:t>Transcription &amp; sentiment from quarterly executive calls.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0B981"/>
                </a:solidFill>
                <a:latin typeface="Arial"/>
              </a:rPr>
              <a:t>▸  Multi-Asset Coverage  </a:t>
            </a:r>
            <a:r>
              <a:rPr b="0" sz="1000">
                <a:solidFill>
                  <a:srgbClr val="F8FAFC"/>
                </a:solidFill>
                <a:latin typeface="Arial"/>
              </a:rPr>
              <a:t>Extending to fixed-income, ETFs, and global indices.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0B981"/>
                </a:solidFill>
                <a:latin typeface="Arial"/>
              </a:rPr>
              <a:t>▸  Defense Q&amp;A  </a:t>
            </a:r>
            <a:r>
              <a:rPr b="0" sz="1000">
                <a:solidFill>
                  <a:srgbClr val="F8FAFC"/>
                </a:solidFill>
                <a:latin typeface="Arial"/>
              </a:rPr>
              <a:t>Team is ready to demonstrate a live analysis run.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