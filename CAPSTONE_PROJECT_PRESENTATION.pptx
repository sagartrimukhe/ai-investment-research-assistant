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AUTONOMOUS EQUITY INTELLIGENCE PLATFORM  ·  Platform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69848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200" b="1">
                <a:solidFill>
                  <a:srgbClr val="F8FAFC"/>
                </a:solidFill>
                <a:latin typeface="Arial"/>
              </a:rPr>
              <a:t>AI Investment Research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38BDF8"/>
                </a:solidFill>
                <a:latin typeface="Arial"/>
              </a:rPr>
              <a:t>Autonomous Multi-Agent Equity Research  ·  Human-in-the-Loop Governance  ·  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44368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182112"/>
            <a:ext cx="10728655" cy="475488"/>
          </a:xfrm>
          <a:prstGeom prst="rect">
            <a:avLst/>
          </a:prstGeom>
          <a:solidFill>
            <a:srgbClr val="0E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27832"/>
            <a:ext cx="1072865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94A3B8"/>
                </a:solidFill>
                <a:latin typeface="Arial"/>
              </a:rPr>
              <a:t>CAPSTONE FINAL DEFENSE  ·  QUANTITATIVE FINANCE DOMAIN  ·  AUTONOMOUS EQUITY INTELLIGENCE PLATFORM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2258568" cy="22860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2258568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76756" y="4069080"/>
            <a:ext cx="768096" cy="76809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76756" y="4142232"/>
            <a:ext cx="7680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80C18"/>
                </a:solidFill>
                <a:latin typeface="Arial"/>
              </a:rPr>
              <a:t>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56048"/>
            <a:ext cx="207568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Ganesh Swami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49240"/>
            <a:ext cx="207568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38BDF8"/>
                </a:solidFill>
                <a:latin typeface="Arial"/>
              </a:rPr>
              <a:t>Backend &amp; Cloud Lead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54096" y="3840480"/>
            <a:ext cx="2258568" cy="22860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54096" y="3840480"/>
            <a:ext cx="2258568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99332" y="4069080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9332" y="4142232"/>
            <a:ext cx="7680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80C18"/>
                </a:solidFill>
                <a:latin typeface="Arial"/>
              </a:rPr>
              <a:t>SG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4956048"/>
            <a:ext cx="207568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Shradha Gaikwad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5349240"/>
            <a:ext cx="207568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10B981"/>
                </a:solidFill>
                <a:latin typeface="Arial"/>
              </a:rPr>
              <a:t>Financial Modeling Lead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76672" y="3840480"/>
            <a:ext cx="2258568" cy="22860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76672" y="3840480"/>
            <a:ext cx="2258568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1908" y="4069080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1908" y="4142232"/>
            <a:ext cx="7680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80C18"/>
                </a:solidFill>
                <a:latin typeface="Arial"/>
              </a:rPr>
              <a:t>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8112" y="4956048"/>
            <a:ext cx="207568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Sagar Trimukhe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5349240"/>
            <a:ext cx="207568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F59E0B"/>
                </a:solidFill>
                <a:latin typeface="Arial"/>
              </a:rPr>
              <a:t>Frontend &amp; HITL Lead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3840480"/>
            <a:ext cx="2258568" cy="22860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99248" y="3840480"/>
            <a:ext cx="2258568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444484" y="4069080"/>
            <a:ext cx="768096" cy="76809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44484" y="4142232"/>
            <a:ext cx="7680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80C18"/>
                </a:solidFill>
                <a:latin typeface="Arial"/>
              </a:rPr>
              <a:t>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90688" y="4956048"/>
            <a:ext cx="207568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Nilanjan Das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5349240"/>
            <a:ext cx="207568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8B5CF6"/>
                </a:solidFill>
                <a:latin typeface="Arial"/>
              </a:rPr>
              <a:t>Data Engineering Lead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21824" y="3840480"/>
            <a:ext cx="2258568" cy="22860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21824" y="3840480"/>
            <a:ext cx="2258568" cy="502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767060" y="4069080"/>
            <a:ext cx="768096" cy="7680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67060" y="4142232"/>
            <a:ext cx="7680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80C18"/>
                </a:solidFill>
                <a:latin typeface="Arial"/>
              </a:rPr>
              <a:t>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13264" y="4956048"/>
            <a:ext cx="207568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Nikhil Gaikwad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13264" y="5349240"/>
            <a:ext cx="207568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3B82F6"/>
                </a:solidFill>
                <a:latin typeface="Arial"/>
              </a:rPr>
              <a:t>Integration &amp; QA Lead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3D2702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The Problem &amp; Our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Why traditional equity research breaks — and how autonomous AI fixes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The Industry Challenge &amp; Autonomous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59436" cy="4773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8116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59E0B"/>
                </a:solidFill>
                <a:latin typeface="Arial"/>
              </a:defRPr>
            </a:pPr>
            <a:r>
              <a:t>The Industry Problem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Manual Research Bottleneck  </a:t>
            </a:r>
            <a:r>
              <a:rPr b="0" sz="1000">
                <a:solidFill>
                  <a:srgbClr val="F8FAFC"/>
                </a:solidFill>
                <a:latin typeface="Arial"/>
              </a:rPr>
              <a:t>Analysts spend 8–15 hours per company compiling 10-Ks, pricing data and peer multiples.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Information Fragmentation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Financials, live market data and macro news live in disconnected silos.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Single-Prompt LLM Fragility  </a:t>
            </a:r>
            <a:r>
              <a:rPr b="0" sz="1000">
                <a:solidFill>
                  <a:srgbClr val="F8FAFC"/>
                </a:solidFill>
                <a:latin typeface="Arial"/>
              </a:rPr>
              <a:t>Generic models hallucinate audited figures and miss compliance guardrails.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No Human Oversight Layer  </a:t>
            </a:r>
            <a:r>
              <a:rPr b="0" sz="1000">
                <a:solidFill>
                  <a:srgbClr val="F8FAFC"/>
                </a:solidFill>
                <a:latin typeface="Arial"/>
              </a:rPr>
              <a:t>Pure automation without review exposes firms to regulatory and reputational risk.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627632"/>
            <a:ext cx="59436" cy="4773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1948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The Autonomous Solution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Specialized Agent DAG  </a:t>
            </a:r>
            <a:r>
              <a:rPr b="0" sz="1000">
                <a:solidFill>
                  <a:srgbClr val="F8FAFC"/>
                </a:solidFill>
                <a:latin typeface="Arial"/>
              </a:rPr>
              <a:t>LangGraph orchestrates purpose-built agents instead of one monolithic prompt.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45 % Speed Uplift  </a:t>
            </a:r>
            <a:r>
              <a:rPr b="0" sz="1000">
                <a:solidFill>
                  <a:srgbClr val="F8FAFC"/>
                </a:solidFill>
                <a:latin typeface="Arial"/>
              </a:rPr>
              <a:t>Concurrent parallel fan-out cuts end-to-end research time by over 45 %.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Vector-Grounded RAG  </a:t>
            </a:r>
            <a:r>
              <a:rPr b="0" sz="1000">
                <a:solidFill>
                  <a:srgbClr val="F8FAFC"/>
                </a:solidFill>
                <a:latin typeface="Arial"/>
              </a:rPr>
              <a:t>ChromaDB retrieves verbatim balance-sheet data from official SEC EDGAR 10-K filings.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Mandatory Governance Gate  </a:t>
            </a:r>
            <a:r>
              <a:rPr b="0" sz="1000">
                <a:solidFill>
                  <a:srgbClr val="F8FAFC"/>
                </a:solidFill>
                <a:latin typeface="Arial"/>
              </a:rPr>
              <a:t>No memorandum is published without explicit human-analyst sign-off.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0E2F3E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Stateful DAG · Parallel Agents · Vector RAG · Human Interrupt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End-to-End Multi-Agent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743200" cy="477316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377440"/>
            <a:ext cx="259689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>
                <a:solidFill>
                  <a:srgbClr val="080C18"/>
                </a:solidFill>
                <a:latin typeface="Arial"/>
              </a:rPr>
              <a:t>5-Stage
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383280"/>
            <a:ext cx="259689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10182A"/>
                </a:solidFill>
                <a:latin typeface="Arial"/>
              </a:rPr>
              <a:t>LangGraph DAG
·  ChromaDB RAG
·  Gemini 2.5 Flash
·  Streamlit UI
·  AWS 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627632"/>
            <a:ext cx="64008" cy="8412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1608" y="162763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58768" y="171907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38BDF8"/>
                </a:solidFill>
                <a:latin typeface="Arial"/>
              </a:rPr>
              <a:t>① Router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768" y="206654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Validates ticker · assigns benchmark peer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2587752"/>
            <a:ext cx="64008" cy="8412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21608" y="258775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58768" y="267919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10B981"/>
                </a:solidFill>
                <a:latin typeface="Arial"/>
              </a:rPr>
              <a:t>② Market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58768" y="302666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Extracts 10-K financials via ChromaDB RAG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3547872"/>
            <a:ext cx="64008" cy="8412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721608" y="354787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363931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F59E0B"/>
                </a:solidFill>
                <a:latin typeface="Arial"/>
              </a:rPr>
              <a:t>③ Trend &amp; Sentiment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8768" y="398678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Scores macro &amp; news sentiment  –1.0 → +1.0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4507992"/>
            <a:ext cx="64008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21608" y="450799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58768" y="459943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8B5CF6"/>
                </a:solidFill>
                <a:latin typeface="Arial"/>
              </a:rPr>
              <a:t>④ Comparative 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58768" y="494690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Pulls live P/E · EV/EBITDA · PEG via yfinance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5468112"/>
            <a:ext cx="64008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21608" y="546811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58768" y="555955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3B82F6"/>
                </a:solidFill>
                <a:latin typeface="Arial"/>
              </a:rPr>
              <a:t>⑤ CIO Summary + HITL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58768" y="590702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Synthesises thesis · human analyst certifies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AGENT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Specialized Agent Nodes &amp; Responsibilities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258568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Arial"/>
              </a:rPr>
              <a:t>ROUTER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Ganesh Swami
&amp; Nilanjan 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Validates 270-stock catalog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Maps target to benchmark peer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Initialises graph 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56839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6839" y="1627632"/>
            <a:ext cx="2258568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93999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10B981"/>
                </a:solidFill>
                <a:latin typeface="Arial"/>
              </a:rPr>
              <a:t>MARKET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8279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Shradha Gaikwad
&amp; Sagar Trimukhe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9719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93999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SEC 10-K balance-sheet extraction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Revenue, margins, net income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Verbatim ChromaDB retrieval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82158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82158" y="1627632"/>
            <a:ext cx="2258568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9318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F59E0B"/>
                </a:solidFill>
                <a:latin typeface="Arial"/>
              </a:rPr>
              <a:t>TREND &amp; SENTIMENT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3598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Nilanjan Das
&amp; Sagar Trimukhe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65038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19318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Live macro &amp; news analysis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Sentiment index –1.0 → +1.0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Regulatory &amp; industry catalysts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07477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07477" y="1627632"/>
            <a:ext cx="2258568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44637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B5CF6"/>
                </a:solidFill>
                <a:latin typeface="Arial"/>
              </a:rPr>
              <a:t>COMP. VALUATION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8917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Nikhil Gaikwad
&amp; Shradha Gaikwad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0357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44637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Real-time P/E · EV/EBITDA · PEG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Dual-strategy tool fallback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Peer multiple differentials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32796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32796" y="1627632"/>
            <a:ext cx="2258568" cy="502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9956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3B82F6"/>
                </a:solidFill>
                <a:latin typeface="Arial"/>
              </a:rPr>
              <a:t>CIO SUMMARY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24236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Shradha Gaikwad
&amp; Ganesh Swami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5676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69956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BUY / HOLD / SELL + target price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Volatility &amp; drawdown metrics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Human analyst review gate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042E20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Key Engineering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Parallel Fan-Out · State Reducers · HITL Gate · Quantitative Risk Modeling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CONCURRENCY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Parallel Agent Fan-Out &amp; State Reducers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0604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38BDF8"/>
                </a:solidFill>
                <a:latin typeface="Arial"/>
              </a:rPr>
              <a:t>45 %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Latency Reduction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vs sequential execution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627632"/>
            <a:ext cx="260604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0B981"/>
                </a:solidFill>
                <a:latin typeface="Arial"/>
              </a:rPr>
              <a:t>13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Avg. Run Time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end-to-end per analysis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627632"/>
            <a:ext cx="260604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59E0B"/>
                </a:solidFill>
                <a:latin typeface="Arial"/>
              </a:rPr>
              <a:t>24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Baseline (Sequential)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before parallelisation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627632"/>
            <a:ext cx="260604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Arial"/>
              </a:rPr>
              <a:t>Zero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Race Conditions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custom state reducers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090672"/>
            <a:ext cx="5239512" cy="331012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090672"/>
            <a:ext cx="59436" cy="33101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" y="3255264"/>
            <a:ext cx="4905756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Why Parallel Fan-Out?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Independent Workstreams  </a:t>
            </a:r>
            <a:r>
              <a:rPr b="0" sz="1000">
                <a:solidFill>
                  <a:srgbClr val="F8FAFC"/>
                </a:solidFill>
                <a:latin typeface="Arial"/>
              </a:rPr>
              <a:t>Market Research and Trend Analysis are fully decoupled — no shared data dependencies.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Concurrent Execution  </a:t>
            </a:r>
            <a:r>
              <a:rPr b="0" sz="1000">
                <a:solidFill>
                  <a:srgbClr val="F8FAFC"/>
                </a:solidFill>
                <a:latin typeface="Arial"/>
              </a:rPr>
              <a:t>Both agents fire immediately after the Router, cutting wall-clock latency by 45 %.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Isolated Contexts  </a:t>
            </a:r>
            <a:r>
              <a:rPr b="0" sz="1000">
                <a:solidFill>
                  <a:srgbClr val="F8FAFC"/>
                </a:solidFill>
                <a:latin typeface="Arial"/>
              </a:rPr>
              <a:t>Each agent holds only its own prompt context — no token interference between branches.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Independent Resilience  </a:t>
            </a:r>
            <a:r>
              <a:rPr b="0" sz="1000">
                <a:solidFill>
                  <a:srgbClr val="F8FAFC"/>
                </a:solidFill>
                <a:latin typeface="Arial"/>
              </a:rPr>
              <a:t>A news-fetch delay does not block balance-sheet extraction from completing.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3090672"/>
            <a:ext cx="5239512" cy="331012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3090672"/>
            <a:ext cx="59436" cy="33101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1948" y="3255264"/>
            <a:ext cx="4905756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Custom State Reducer Architecture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The Merge Problem  </a:t>
            </a:r>
            <a:r>
              <a:rPr b="0" sz="1000">
                <a:solidFill>
                  <a:srgbClr val="F8FAFC"/>
                </a:solidFill>
                <a:latin typeface="Arial"/>
              </a:rPr>
              <a:t>Concurrent nodes writing simultaneously trigger InvalidUpdateError in standard LangGraph channels.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Annotated Reducers  </a:t>
            </a:r>
            <a:r>
              <a:rPr b="0" sz="1000">
                <a:solidFill>
                  <a:srgbClr val="F8FAFC"/>
                </a:solidFill>
                <a:latin typeface="Arial"/>
              </a:rPr>
              <a:t>app/core/state.py uses Annotated[T, _keep_latest] for clean, deterministic dictionary merges.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Zero Data Loss  </a:t>
            </a:r>
            <a:r>
              <a:rPr b="0" sz="1000">
                <a:solidFill>
                  <a:srgbClr val="F8FAFC"/>
                </a:solidFill>
                <a:latin typeface="Arial"/>
              </a:rPr>
              <a:t>Fan-In at Comparative Valuation smoothly consumes both parallel branch outputs.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Pydantic Validation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All merged payloads pass strict schema checks before reaching the Summary Agent.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INSTITUTIONAL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Human-in-the-Loop (HITL) Compliance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560320" cy="477316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468880"/>
            <a:ext cx="24140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1">
                <a:solidFill>
                  <a:srgbClr val="080C18"/>
                </a:solidFill>
                <a:latin typeface="Arial"/>
              </a:rPr>
              <a:t>Mandatory
Compliance
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657600"/>
            <a:ext cx="2414016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10182A"/>
                </a:solidFill>
                <a:latin typeface="Arial"/>
              </a:rPr>
              <a:t>No AI-generated
memorandum is
published without
explicit human
analyst sign-off.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27632"/>
            <a:ext cx="8001000" cy="2240280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627632"/>
            <a:ext cx="59436" cy="22402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1316" y="1792224"/>
            <a:ext cx="7667244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How the Gate Works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Graph Interruption  </a:t>
            </a:r>
            <a:r>
              <a:rPr b="0" sz="1000">
                <a:solidFill>
                  <a:srgbClr val="F8FAFC"/>
                </a:solidFill>
                <a:latin typeface="Arial"/>
              </a:rPr>
              <a:t>langgraph.types.interrupt() freezes execution before final publishing step.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State Serialization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MemorySaver writes full graph state to disk under a unique session thread ID.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Analyst Workspace  </a:t>
            </a:r>
            <a:r>
              <a:rPr b="0" sz="1000">
                <a:solidFill>
                  <a:srgbClr val="F8FAFC"/>
                </a:solidFill>
                <a:latin typeface="Arial"/>
              </a:rPr>
              <a:t>Tab 3 dashboard populates with draft rating, risk scores and investment thesis.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Certification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Analyst reviews, edits and certifies — then execution resumes with audit trail.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4005072"/>
            <a:ext cx="8001000" cy="22128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4005072"/>
            <a:ext cx="59436" cy="22128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1316" y="4169664"/>
            <a:ext cx="7667244" cy="1883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59E0B"/>
                </a:solidFill>
                <a:latin typeface="Arial"/>
              </a:defRPr>
            </a:pPr>
            <a:r>
              <a:t>Engineering Challenges Solved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Streamlit Rerun Context Loss  </a:t>
            </a:r>
            <a:r>
              <a:rPr b="0" sz="1000">
                <a:solidFill>
                  <a:srgbClr val="F8FAFC"/>
                </a:solidFill>
                <a:latin typeface="Arial"/>
              </a:rPr>
              <a:t>Streamlit rewrites in-memory state on every click — solved by persisting thread ID in st.session_state.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Clean Graph Resumption  </a:t>
            </a:r>
            <a:r>
              <a:rPr b="0" sz="1000">
                <a:solidFill>
                  <a:srgbClr val="F8FAFC"/>
                </a:solidFill>
                <a:latin typeface="Arial"/>
              </a:rPr>
              <a:t>Command(resume=payload) replays from saved checkpoint without re-running earlier agents.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Lead Engineers  </a:t>
            </a:r>
            <a:r>
              <a:rPr b="0" sz="1000">
                <a:solidFill>
                  <a:srgbClr val="F8FAFC"/>
                </a:solidFill>
                <a:latin typeface="Arial"/>
              </a:rPr>
              <a:t>Sagar Trimukhe (UI &amp; State Binding) · Ganesh Swami (LangGraph Interrupt Protocol)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CIO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Summary Agent &amp; Quantitative Risk Modeling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59436" cy="4773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8116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Investment Thesis Synthesis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Holistic Blending  </a:t>
            </a:r>
            <a:r>
              <a:rPr b="0" sz="1000">
                <a:solidFill>
                  <a:srgbClr val="F8FAFC"/>
                </a:solidFill>
                <a:latin typeface="Arial"/>
              </a:rPr>
              <a:t>Merges 10-K fundamentals, macro catalysts, and peer valuation multiples.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BUY / HOLD / SELL  </a:t>
            </a:r>
            <a:r>
              <a:rPr b="0" sz="1000">
                <a:solidFill>
                  <a:srgbClr val="F8FAFC"/>
                </a:solidFill>
                <a:latin typeface="Arial"/>
              </a:rPr>
              <a:t>Delivers an unambiguous recommendation and 12-month target price.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Bull &amp; Bear Case  </a:t>
            </a:r>
            <a:r>
              <a:rPr b="0" sz="1000">
                <a:solidFill>
                  <a:srgbClr val="F8FAFC"/>
                </a:solidFill>
                <a:latin typeface="Arial"/>
              </a:rPr>
              <a:t>Structures competitive moats against primary risk factors.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Regex Sanitization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Strips currency symbols from LLM strings to ensure strict numeric casting.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Lead Engineers  </a:t>
            </a:r>
            <a:r>
              <a:rPr b="0" sz="1000">
                <a:solidFill>
                  <a:srgbClr val="F8FAFC"/>
                </a:solidFill>
                <a:latin typeface="Arial"/>
              </a:rPr>
              <a:t>Shradha Gaikwad (Agent) · Ganesh Swami (State Integration)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627632"/>
            <a:ext cx="59436" cy="4773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1948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Quantitative Risk Integration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Annualized Volatility  </a:t>
            </a:r>
            <a:r>
              <a:rPr b="0" sz="1000">
                <a:solidFill>
                  <a:srgbClr val="F8FAFC"/>
                </a:solidFill>
                <a:latin typeface="Arial"/>
              </a:rPr>
              <a:t>Daily return dispersion scaled across 252 active annual trading sessions.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252-Day Correction  </a:t>
            </a:r>
            <a:r>
              <a:rPr b="0" sz="1000">
                <a:solidFill>
                  <a:srgbClr val="F8FAFC"/>
                </a:solidFill>
                <a:latin typeface="Arial"/>
              </a:rPr>
              <a:t>Calculations exclude market holidays and weekends to prevent skew.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Empirical Validation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AAPL 1-year volatility computed at 19.4 % — within Bloomberg institutional range.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Maximum Drawdown  </a:t>
            </a:r>
            <a:r>
              <a:rPr b="0" sz="1000">
                <a:solidFill>
                  <a:srgbClr val="F8FAFC"/>
                </a:solidFill>
                <a:latin typeface="Arial"/>
              </a:rPr>
              <a:t>Tracks largest historical peak-to-trough price decline for downside risk profiling.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Risk Tier Flags  </a:t>
            </a:r>
            <a:r>
              <a:rPr b="0" sz="1000">
                <a:solidFill>
                  <a:srgbClr val="F8FAFC"/>
                </a:solidFill>
                <a:latin typeface="Arial"/>
              </a:rPr>
              <a:t>Auto-classifies equities as Low · Moderate · High volatility for portfolio committees.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22173D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Data Layer — Vector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SEC EDGAR · ChromaDB · Gemini Embeddings · Zero-Hallucination Retrieval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SEC Filings &amp; Dense Vector RAG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3347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Arial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Acquire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38BDF8"/>
                </a:solidFill>
                <a:latin typeface="Arial"/>
              </a:rPr>
              <a:t>SEC EDGAR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Official 10-K / 10-K/A / 20-F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Accession number tracking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Gzip-stream decompression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HTTP 403 user-agent fix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3572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3572" y="1627632"/>
            <a:ext cx="263347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5012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Arial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5012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Chunk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5012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10B981"/>
                </a:solidFill>
                <a:latin typeface="Arial"/>
              </a:rPr>
              <a:t>Structure-Aware Split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6452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8164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1,500 chars · 150 overlap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Double-newline priority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Financial table row integrity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UTF-8 normalisation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5624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1627632"/>
            <a:ext cx="2633472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27064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8B5CF6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Embed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7064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8B5CF6"/>
                </a:solidFill>
                <a:latin typeface="Arial"/>
              </a:rPr>
              <a:t>Gemini text-embedding-004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8504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3,072-dimensional vectors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Financial semantic capture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Strict ticker metadata tag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Cosine similarity optimised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37676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37676" y="1627632"/>
            <a:ext cx="263347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29116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3B82F6"/>
                </a:solidFill>
                <a:latin typeface="Arial"/>
              </a:rPr>
              <a:t>STEP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9116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Retrieve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29116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3B82F6"/>
                </a:solidFill>
                <a:latin typeface="Arial"/>
              </a:rPr>
              <a:t>ChromaDB Vector Store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0556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2268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filter={'ticker': target}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Zero cross-stock leakage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&lt; 50 ms query latency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Verbatim context grounding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0E203D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Technology Stack &amp; AWS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Framework Decisions · Cloud Hosting · Containerisation · Cost Efficiency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Framework Selection &amp; Architectural Justification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27632"/>
          <a:ext cx="10728655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94560"/>
                <a:gridCol w="2103120"/>
                <a:gridCol w="4327855"/>
              </a:tblGrid>
              <a:tr h="59664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Layer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Selected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Alternative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Why This Choice?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Agent Orchestration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^0.2.20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CrewAI / AutoGen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Native interrupt() for HITL, stateful DAG, persistent thread checkpointing.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LLM Inference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Gemini 2.5 Flash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GPT-4o / Claude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Fast inference, generous context window, &lt; $0.003 per full research run.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Vector DB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ChromaDB ^0.5.5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Pinecone / FAISS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Embedded persistence, no external cloud dependency, strict metadata isolation.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Streamlit ^1.38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FastAPI + React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Rapid prototyping, built-in session state, native progress streaming.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Cloud Compute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EC2 t3.medium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Lambda / Fargate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Persistent ChromaDB disk cache, predictable cost, systemd stability.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Object Storage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S3 (boto3)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Local Disk Only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Durable 10-K filing archive and certified report storage with graceful fallback.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Containerisation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Docker Compose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Kubernetes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Hermetic multi-service packaging; one-command local and cloud deploy.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3D2702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Performance &amp; 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Speed · Cost · Accuracy · Reliability — Validated Against Industry Baselines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System Performance &amp; Verification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0604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38BDF8"/>
                </a:solidFill>
                <a:latin typeface="Arial"/>
              </a:rPr>
              <a:t>45 %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Faster Research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vs sequential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627632"/>
            <a:ext cx="260604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0B981"/>
                </a:solidFill>
                <a:latin typeface="Arial"/>
              </a:rPr>
              <a:t>&lt; $0.003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Cost per Full Run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Gemini Flash inference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627632"/>
            <a:ext cx="260604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59E0B"/>
                </a:solidFill>
                <a:latin typeface="Arial"/>
              </a:rPr>
              <a:t>19.4 %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AAPL Volatility Match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Bloomberg 18–20 % range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627632"/>
            <a:ext cx="260604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Arial"/>
              </a:rPr>
              <a:t>100 %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Test Suite Pass Rate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end-to-end integration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31520" y="3200400"/>
          <a:ext cx="1072865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286000"/>
                <a:gridCol w="3779215"/>
              </a:tblGrid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Metric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System Result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Baseline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Outcome &amp; Impact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Analysis Latency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13.2 s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24.5 s sequential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45.7 % reduction via concurrent agent fan-out.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Token Efficiency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4,200 tokens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14,500 chat loop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71 % token cut — isolated single-agent contexts.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Inference Cost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$0.0028 / run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$0.08+ (GPT-4o)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96.5 % cost reduction using Gemini Flash.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Volatility Accuracy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19.4 % (AAPL)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18.5–20.0 % BBG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Institutional parity on 252-trading-day window.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TEAM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Individual Engineering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27632"/>
          <a:ext cx="10728655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4206240"/>
                <a:gridCol w="2133295"/>
              </a:tblGrid>
              <a:tr h="7955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Team Member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Primary Domain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Key Contributions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Core Modules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&amp; Cloud Lead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DAG topology · Parallel fan-out reducers · HITL interrupt gate · AWS EC2 setup script · S3 client · Docker Compose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workflow_service.py</a:t>
                      </a:r>
                      <a:br/>
                      <a:r>
                        <a:t>state.py · hitl_review.py</a:t>
                      </a:r>
                      <a:br/>
                      <a:r>
                        <a:t>setup_ec2.sh · s3_client.py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Modeling Lead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Research Agent · Summary Agent thesis synthesis · 252-day volatility &amp; drawdown modeling · Pydantic schemas · Regex sanitizers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 · report.py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&amp; HITL Lead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3-Tab Streamlit dashboard · Docker containerisation · Trend Analysis co-lead · AWS S3 integration · Real-time node streamer · HITL state binding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app/main.py ·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 Lead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270-stock NASDAQ catalog · SEC EDGAR 10-K ingestion · ChromaDB vector store · Trend &amp; Sentiment Agent co-lead · Recursive text splitting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Integration &amp; QA Lead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 Valuation Agent · yfinance live telemetry · Rate-limit backoff engine · Timezone DatetimeIndex fix · Automated test suite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Key Achievements &amp; Defense Q&amp;A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0604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38BDF8"/>
                </a:solidFill>
                <a:latin typeface="Arial"/>
              </a:rPr>
              <a:t>Production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Stateful multi-agent DAG — not a chatbot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627632"/>
            <a:ext cx="260604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0B981"/>
                </a:solidFill>
                <a:latin typeface="Arial"/>
              </a:rPr>
              <a:t>Zero Unverified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Every memo requires human certification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627632"/>
            <a:ext cx="260604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59E0B"/>
                </a:solidFill>
                <a:latin typeface="Arial"/>
              </a:rPr>
              <a:t>45 % Faster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Parallel fan-out execution architecture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627632"/>
            <a:ext cx="260604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Arial"/>
              </a:rPr>
              <a:t>&lt; $0.003 /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96 % cost reduction vs GPT-4o workflows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127248"/>
            <a:ext cx="5239512" cy="3273552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127248"/>
            <a:ext cx="59436" cy="32735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" y="3291840"/>
            <a:ext cx="490575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What We Delivered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Production-Grade DAG  </a:t>
            </a:r>
            <a:r>
              <a:rPr b="0" sz="1000">
                <a:solidFill>
                  <a:srgbClr val="F8FAFC"/>
                </a:solidFill>
                <a:latin typeface="Arial"/>
              </a:rPr>
              <a:t>Full LangGraph stateful workflow, not a chatbot loop.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Audited Data Grounding  </a:t>
            </a:r>
            <a:r>
              <a:rPr b="0" sz="1000">
                <a:solidFill>
                  <a:srgbClr val="F8FAFC"/>
                </a:solidFill>
                <a:latin typeface="Arial"/>
              </a:rPr>
              <a:t>Verbatim SEC 10-K retrieval via ChromaDB RAG.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AWS Cloud Deployment  </a:t>
            </a:r>
            <a:r>
              <a:rPr b="0" sz="1000">
                <a:solidFill>
                  <a:srgbClr val="F8FAFC"/>
                </a:solidFill>
                <a:latin typeface="Arial"/>
              </a:rPr>
              <a:t>Fully containerised on EC2 with S3 document archiving.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Governance Compliance  </a:t>
            </a:r>
            <a:r>
              <a:rPr b="0" sz="1000">
                <a:solidFill>
                  <a:srgbClr val="F8FAFC"/>
                </a:solidFill>
                <a:latin typeface="Arial"/>
              </a:rPr>
              <a:t>HITL gate ensures zero unverified AI dissemination.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3127248"/>
            <a:ext cx="5239512" cy="3273552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3127248"/>
            <a:ext cx="59436" cy="32735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1948" y="3291840"/>
            <a:ext cx="490575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Future Roadmap &amp; Q&amp;A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Multi-Modal Parsing  </a:t>
            </a:r>
            <a:r>
              <a:rPr b="0" sz="1000">
                <a:solidFill>
                  <a:srgbClr val="F8FAFC"/>
                </a:solidFill>
                <a:latin typeface="Arial"/>
              </a:rPr>
              <a:t>Vision models for charts and non-standard financial schedules.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Live Earnings Audio  </a:t>
            </a:r>
            <a:r>
              <a:rPr b="0" sz="1000">
                <a:solidFill>
                  <a:srgbClr val="F8FAFC"/>
                </a:solidFill>
                <a:latin typeface="Arial"/>
              </a:rPr>
              <a:t>Transcription &amp; sentiment from quarterly executive calls.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Multi-Asset Coverage  </a:t>
            </a:r>
            <a:r>
              <a:rPr b="0" sz="1000">
                <a:solidFill>
                  <a:srgbClr val="F8FAFC"/>
                </a:solidFill>
                <a:latin typeface="Arial"/>
              </a:rPr>
              <a:t>Extending to fixed-income, ETFs, and global indices.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Defense Q&amp;A  </a:t>
            </a:r>
            <a:r>
              <a:rPr b="0" sz="1000">
                <a:solidFill>
                  <a:srgbClr val="F8FAFC"/>
                </a:solidFill>
                <a:latin typeface="Arial"/>
              </a:rPr>
              <a:t>Team is ready to demonstrate a live analysis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