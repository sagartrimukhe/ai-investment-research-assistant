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63440" y="0"/>
            <a:ext cx="9144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AUTONOMOUS EQUITY INTELLIGENCE PLATFORM  ·  Platform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Calibri"/>
              </a:rPr>
              <a:t>Advanced PG Certification in AI Engineering on Cloud &amp; AIOps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932688"/>
            <a:ext cx="3931920" cy="18288"/>
          </a:xfrm>
          <a:prstGeom prst="rect">
            <a:avLst/>
          </a:prstGeom>
          <a:solidFill>
            <a:srgbClr val="26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40233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AI Investment
Research
Assistant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063240"/>
            <a:ext cx="3931920" cy="34747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3090672"/>
            <a:ext cx="387705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CAPSTONE FINAL DEFENSE  ·  QUANTITATIVE FINANCE DOMAIN  ·  FINANCE DOMAIN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529584"/>
            <a:ext cx="402336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B4C8E6"/>
                </a:solidFill>
                <a:latin typeface="Calibri"/>
              </a:rPr>
              <a:t>Autonomous Multi-Agent Equity Research Platform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160520"/>
            <a:ext cx="3931920" cy="18288"/>
          </a:xfrm>
          <a:prstGeom prst="rect">
            <a:avLst/>
          </a:prstGeom>
          <a:solidFill>
            <a:srgbClr val="26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425196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Calibri"/>
              </a:rPr>
              <a:t>PROJECT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590288"/>
            <a:ext cx="29260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D4ED8"/>
                </a:solidFill>
                <a:latin typeface="Calibri"/>
              </a:rPr>
              <a:t>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590288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Ganesh Swami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4831" y="4590288"/>
            <a:ext cx="239572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0B9D7"/>
                </a:solidFill>
                <a:latin typeface="Calibri"/>
              </a:rPr>
              <a:t>Backend Architecture &amp; Cloud DevOps Lead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992624"/>
            <a:ext cx="29260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D4ED8"/>
                </a:solidFill>
                <a:latin typeface="Calibri"/>
              </a:rPr>
              <a:t>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992624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Shradha Gaikwad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84831" y="4992624"/>
            <a:ext cx="239572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0B9D7"/>
                </a:solidFill>
                <a:latin typeface="Calibri"/>
              </a:rPr>
              <a:t>Financial Agent Intelligence &amp; Modeling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394960"/>
            <a:ext cx="29260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D4ED8"/>
                </a:solidFill>
                <a:latin typeface="Calibri"/>
              </a:rPr>
              <a:t>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394960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Sagar Trimukhe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84831" y="5394960"/>
            <a:ext cx="239572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0B9D7"/>
                </a:solidFill>
                <a:latin typeface="Calibri"/>
              </a:rPr>
              <a:t>Frontend UI &amp; HITL Integration Lead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797296"/>
            <a:ext cx="29260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D4ED8"/>
                </a:solidFill>
                <a:latin typeface="Calibri"/>
              </a:rPr>
              <a:t>4.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797296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Nilanjan Das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4831" y="5797296"/>
            <a:ext cx="239572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0B9D7"/>
                </a:solidFill>
                <a:latin typeface="Calibri"/>
              </a:rPr>
              <a:t>Data Engineering &amp; SEC RAG Pipeline Lead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199632"/>
            <a:ext cx="29260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D4ED8"/>
                </a:solidFill>
                <a:latin typeface="Calibri"/>
              </a:rPr>
              <a:t>5.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6199632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Nikhil Gaikwad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84831" y="6199632"/>
            <a:ext cx="2395728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0B9D7"/>
                </a:solidFill>
                <a:latin typeface="Calibri"/>
              </a:rPr>
              <a:t>Full-Stack Integration &amp; QA Lead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347472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PROJECT OVERVIEW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0" y="694944"/>
            <a:ext cx="6858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0" y="914400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74920" y="950976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Project Title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9248" y="950976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AI Investment Research Assistant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0" y="1481328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20" y="151790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Domain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99248" y="1517904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Finance — Autonomous Equity Research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0" y="2048256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74920" y="2084832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Orchestration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99248" y="2084832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LangGraph Stateful DAG (Multi-Agent)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0" y="2615184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4920" y="2651760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LLM Inference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99248" y="2651760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Google Gemini 2.5 Flash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0" y="3182112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74920" y="3218688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Vector Knowledge Base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99248" y="3218688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ChromaDB + SEC EDGAR 10-K Filings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0" y="3749040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4920" y="3785616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Frontend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99248" y="3785616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Streamlit 3-Tab Analyst Dashboard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0" y="4315968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74920" y="435254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Cloud Infrastructure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99248" y="4352544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AWS EC2 + S3 (Docker Containerised)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0" y="4882896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74920" y="4919472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Governance Model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99248" y="4919472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Human-in-the-Loop Compliance Gate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0" y="5449824"/>
            <a:ext cx="2560320" cy="292608"/>
          </a:xfrm>
          <a:prstGeom prst="roundRect">
            <a:avLst/>
          </a:prstGeom>
          <a:solidFill>
            <a:srgbClr val="F0F5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74920" y="5486400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Calibri"/>
              </a:rPr>
              <a:t>Data Coverage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99248" y="5486400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270-Stock NASDAQ Universe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The Problem &amp; Our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Why traditional equity research fails — and how autonomous AI fixes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The Industry Challenge &amp; Autonomous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5349240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64008" cy="491947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B45309"/>
                </a:solidFill>
                <a:latin typeface="Calibri"/>
              </a:defRPr>
            </a:pPr>
            <a:r>
              <a:t>The Industry Problem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Manual Bottleneck:  </a:t>
            </a:r>
            <a:r>
              <a:rPr b="0" sz="1000">
                <a:solidFill>
                  <a:srgbClr val="334155"/>
                </a:solidFill>
                <a:latin typeface="Calibri"/>
              </a:rPr>
              <a:t>Analysts spend 8–15 hrs per company compiling 10-Ks, pricing and peer multiples.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Information Silos:  </a:t>
            </a:r>
            <a:r>
              <a:rPr b="0" sz="1000">
                <a:solidFill>
                  <a:srgbClr val="334155"/>
                </a:solidFill>
                <a:latin typeface="Calibri"/>
              </a:rPr>
              <a:t>Financials, live market data and macro news live in disconnected platforms.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LLM Hallucinations:  </a:t>
            </a:r>
            <a:r>
              <a:rPr b="0" sz="1000">
                <a:solidFill>
                  <a:srgbClr val="334155"/>
                </a:solidFill>
                <a:latin typeface="Calibri"/>
              </a:rPr>
              <a:t>Generic models invent audited figures and miss compliance guardrails.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No Human Oversight:  </a:t>
            </a:r>
            <a:r>
              <a:rPr b="0" sz="1000">
                <a:solidFill>
                  <a:srgbClr val="334155"/>
                </a:solidFill>
                <a:latin typeface="Calibri"/>
              </a:rPr>
              <a:t>Pure automation without review creates regulatory and reputational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72768"/>
            <a:ext cx="5349240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72768"/>
            <a:ext cx="64008" cy="4919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The Autonomous Solution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Specialist Agent DAG:  </a:t>
            </a:r>
            <a:r>
              <a:rPr b="0" sz="1000">
                <a:solidFill>
                  <a:srgbClr val="334155"/>
                </a:solidFill>
                <a:latin typeface="Calibri"/>
              </a:rPr>
              <a:t>LangGraph orchestrates purpose-built nodes — not a monolithic prompt.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45 % Faster Research:  </a:t>
            </a:r>
            <a:r>
              <a:rPr b="0" sz="1000">
                <a:solidFill>
                  <a:srgbClr val="334155"/>
                </a:solidFill>
                <a:latin typeface="Calibri"/>
              </a:rPr>
              <a:t>Concurrent parallel fan-out cuts end-to-end analysis time significantly.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Vector-Grounded RAG:  </a:t>
            </a:r>
            <a:r>
              <a:rPr b="0" sz="1000">
                <a:solidFill>
                  <a:srgbClr val="334155"/>
                </a:solidFill>
                <a:latin typeface="Calibri"/>
              </a:rPr>
              <a:t>ChromaDB retrieves verbatim balance-sheet data from SEC EDGAR 10-Ks.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Mandatory Review Gate:  </a:t>
            </a:r>
            <a:r>
              <a:rPr b="0" sz="1000">
                <a:solidFill>
                  <a:srgbClr val="334155"/>
                </a:solidFill>
                <a:latin typeface="Calibri"/>
              </a:rPr>
              <a:t>No memorandum is published without explicit human-analyst certification.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System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Stateful DAG  ·  Parallel Agents  ·  Vector RAG  ·  Human Interrupt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End-to-End 5-Stage Multi-Agent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560320" cy="4919472"/>
          </a:xfrm>
          <a:prstGeom prst="round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77440"/>
            <a:ext cx="2432304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5-Stage
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2432304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>
                <a:solidFill>
                  <a:srgbClr val="B4C8E6"/>
                </a:solidFill>
                <a:latin typeface="Calibri"/>
              </a:rPr>
              <a:t>LangGraph DAG
·  ChromaDB RAG
·  Gemini 2.5 Flash
·  Streamlit UI
·  AWS Cloud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72768"/>
            <a:ext cx="59436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96996" y="1572768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664208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① Router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029968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Validates ticker from 270-stock catalog · assigns benchmark peer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2560320"/>
            <a:ext cx="59436" cy="868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96996" y="2560320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2651760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Calibri"/>
              </a:rPr>
              <a:t>② Market Research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017520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Retrieves 10-K balance-sheet data from ChromaDB vector store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3547872"/>
            <a:ext cx="59436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96996" y="3547872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63931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B45309"/>
                </a:solidFill>
                <a:latin typeface="Calibri"/>
              </a:rPr>
              <a:t>③ Trend &amp; Sentiment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005072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Scores macro &amp; news sentiment on a –1.0 to +1.0 index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535424"/>
            <a:ext cx="59436" cy="86868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96996" y="4535424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4626864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Calibri"/>
              </a:rPr>
              <a:t>④ Comparative 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992624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Pulls live P/E · EV/EBITDA · PEG ratios via yfinance API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5522976"/>
            <a:ext cx="59436" cy="86868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96996" y="5522976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0" y="5614416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334155"/>
                </a:solidFill>
                <a:latin typeface="Calibri"/>
              </a:rPr>
              <a:t>⑤ CIO Summary + HITL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5980176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Synthesises thesis · routes to human-analyst certification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AGENT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Specialized Agent Nodes &amp; Responsibilities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258568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D4ED8"/>
                </a:solidFill>
                <a:latin typeface="Calibri"/>
              </a:rPr>
              <a:t>ROUTER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Ganesh Swami
&amp; Nilanjan Das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270-stock catalog validation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Assigns benchmark peer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Initialises graph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6936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16936" y="1572768"/>
            <a:ext cx="2258568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6664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59669"/>
                </a:solidFill>
                <a:latin typeface="Calibri"/>
              </a:rPr>
              <a:t>MARKET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8376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Shradha Gaikwad
&amp; Sagar Trimukhe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99816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10-K balance-sheet extraction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Revenue, margins, net income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Verbatim SEC RAG retrieval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9512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39512" y="1572768"/>
            <a:ext cx="2258568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9240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B45309"/>
                </a:solidFill>
                <a:latin typeface="Calibri"/>
              </a:rPr>
              <a:t>TREND &amp; SENTIMENT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0952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Nilanjan Das
&amp; Sagar Trimukhe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22392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7528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Live macro &amp; news analysis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Sentiment index –1.0 → +1.0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Regulatory &amp; industry catalysts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62088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62088" y="1572768"/>
            <a:ext cx="2258568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71816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6D28D9"/>
                </a:solidFill>
                <a:latin typeface="Calibri"/>
              </a:rPr>
              <a:t>COMP. VALUATION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53528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Nikhil Gaikwad
&amp; Shradha Gaikwad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44968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90104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P/E · EV/EBITDA · PEG (live)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Dual-strategy tool fallback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Peer multiple differentials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84664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84664" y="1572768"/>
            <a:ext cx="2258568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94392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334155"/>
                </a:solidFill>
                <a:latin typeface="Calibri"/>
              </a:rPr>
              <a:t>CIO SUMMARY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6104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Shradha Gaikwad
&amp; Ganesh Swami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67544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12680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BUY / HOLD / SELL + target price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Volatility &amp; drawdown metrics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Routes to HITL review gate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Key Engineering Highlights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Parallel Fan-Out  ·  State Reducers  ·  HITL Gate  ·  Quantitative Risk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CONCURRENCY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Parallel Agent Fan-Out &amp; Custom State Reducers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606040" cy="1325880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60604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Calibri"/>
              </a:rPr>
              <a:t>45 %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Latency Reduction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vs sequential execution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72768"/>
            <a:ext cx="2606040" cy="1325880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572768"/>
            <a:ext cx="26060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059669"/>
                </a:solidFill>
                <a:latin typeface="Calibri"/>
              </a:rPr>
              <a:t>13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Avg. Run Time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per full analysis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72768"/>
            <a:ext cx="2606040" cy="1325880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72768"/>
            <a:ext cx="2606040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B45309"/>
                </a:solidFill>
                <a:latin typeface="Calibri"/>
              </a:rPr>
              <a:t>24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Sequential Baseline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before parallelisation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572768"/>
            <a:ext cx="2606040" cy="1325880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572768"/>
            <a:ext cx="2606040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6D28D9"/>
                </a:solidFill>
                <a:latin typeface="Calibri"/>
              </a:rPr>
              <a:t>Zero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Race Conditions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custom state reducers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035808"/>
            <a:ext cx="5349240" cy="345643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3035808"/>
            <a:ext cx="64008" cy="345643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200400"/>
            <a:ext cx="5029200" cy="3163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Why Parallel Fan-Out?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Independent Workstreams:  </a:t>
            </a:r>
            <a:r>
              <a:rPr b="0" sz="1000">
                <a:solidFill>
                  <a:srgbClr val="334155"/>
                </a:solidFill>
                <a:latin typeface="Calibri"/>
              </a:rPr>
              <a:t>Market Research &amp; Trend Analysis are fully decoupled — no shared dependencies.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Concurrent Execution: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Both agents fire simultaneously after Router, cutting wall-clock time by 45 %.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Isolated Contexts:  </a:t>
            </a:r>
            <a:r>
              <a:rPr b="0" sz="1000">
                <a:solidFill>
                  <a:srgbClr val="334155"/>
                </a:solidFill>
                <a:latin typeface="Calibri"/>
              </a:rPr>
              <a:t>Each agent holds only its domain prompt — no token interference between branches.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Independent Resilience:  </a:t>
            </a:r>
            <a:r>
              <a:rPr b="0" sz="1000">
                <a:solidFill>
                  <a:srgbClr val="334155"/>
                </a:solidFill>
                <a:latin typeface="Calibri"/>
              </a:rPr>
              <a:t>A news-fetch delay does not block balance-sheet extraction from completing.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035808"/>
            <a:ext cx="5349240" cy="345643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035808"/>
            <a:ext cx="64008" cy="34564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200400"/>
            <a:ext cx="5029200" cy="3163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59669"/>
                </a:solidFill>
                <a:latin typeface="Calibri"/>
              </a:defRPr>
            </a:pPr>
            <a:r>
              <a:t>Custom Reducer Architecture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The Merge Problem:  </a:t>
            </a:r>
            <a:r>
              <a:rPr b="0" sz="1000">
                <a:solidFill>
                  <a:srgbClr val="334155"/>
                </a:solidFill>
                <a:latin typeface="Calibri"/>
              </a:rPr>
              <a:t>Concurrent writes trigger InvalidUpdateError in standard LangGraph channels.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Annotated Reducers:  </a:t>
            </a:r>
            <a:r>
              <a:rPr b="0" sz="1000">
                <a:solidFill>
                  <a:srgbClr val="334155"/>
                </a:solidFill>
                <a:latin typeface="Calibri"/>
              </a:rPr>
              <a:t>app/core/state.py uses Annotated[T, _keep_latest] for deterministic merges.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Zero Data Loss:  </a:t>
            </a:r>
            <a:r>
              <a:rPr b="0" sz="1000">
                <a:solidFill>
                  <a:srgbClr val="334155"/>
                </a:solidFill>
                <a:latin typeface="Calibri"/>
              </a:rPr>
              <a:t>Fan-In at Comparative Valuation smoothly consumes both parallel outputs.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Schema Validation: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All merged payloads pass Pydantic checks before reaching the Summary Agent.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INSTITUTIONAL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Human-in-the-Loop (HITL) Compliance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468880" cy="491947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423160"/>
            <a:ext cx="234086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Mandatory
Compliance
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566160"/>
            <a:ext cx="2340864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DCF5EB"/>
                </a:solidFill>
                <a:latin typeface="Calibri"/>
              </a:rPr>
              <a:t>No AI-generated
memorandum is
published without
explicit analyst
sign-off.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572768"/>
            <a:ext cx="8275320" cy="228600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572768"/>
            <a:ext cx="64008" cy="2286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737360"/>
            <a:ext cx="7955280" cy="19933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How the Gate Works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Graph Interruption: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langgraph.types.interrupt() freezes execution before final publishing.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State Serialization: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MemorySaver writes full graph state to disk under a unique session thread ID.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Analyst Workspace:  </a:t>
            </a:r>
            <a:r>
              <a:rPr b="0" sz="1000">
                <a:solidFill>
                  <a:srgbClr val="334155"/>
                </a:solidFill>
                <a:latin typeface="Calibri"/>
              </a:rPr>
              <a:t>Tab 3 dashboard shows draft rating, risk metrics and investment thesis.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Certification: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Analyst reviews, edits, certifies — execution resumes with full audit trail.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986784"/>
            <a:ext cx="8275320" cy="2322576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3986784"/>
            <a:ext cx="64008" cy="23225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4151376"/>
            <a:ext cx="7955280" cy="2029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B45309"/>
                </a:solidFill>
                <a:latin typeface="Calibri"/>
              </a:defRPr>
            </a:pPr>
            <a:r>
              <a:t>Engineering Challenges Solved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Streamlit Rerun Loss:  </a:t>
            </a:r>
            <a:r>
              <a:rPr b="0" sz="1000">
                <a:solidFill>
                  <a:srgbClr val="334155"/>
                </a:solidFill>
                <a:latin typeface="Calibri"/>
              </a:rPr>
              <a:t>Solved by persisting LangGraph thread ID in st.session_state across reruns.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Clean Resumption: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Command(resume=payload) restores from checkpoint — no agents re-executed.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Lead Engineers:  </a:t>
            </a:r>
            <a:r>
              <a:rPr b="0" sz="1000">
                <a:solidFill>
                  <a:srgbClr val="334155"/>
                </a:solidFill>
                <a:latin typeface="Calibri"/>
              </a:rPr>
              <a:t>Sagar Trimukhe (UI &amp; State)  ·  Ganesh Swami (LangGraph Interrupt)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CIO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Summary Agent &amp; Quantitative Risk Modeling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5349240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64008" cy="4919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Investment Thesis Synthesis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Holistic Blending:  </a:t>
            </a:r>
            <a:r>
              <a:rPr b="0" sz="1000">
                <a:solidFill>
                  <a:srgbClr val="334155"/>
                </a:solidFill>
                <a:latin typeface="Calibri"/>
              </a:rPr>
              <a:t>Merges 10-K fundamentals, macro catalysts, and peer multiples.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BUY / HOLD / SELL:  </a:t>
            </a:r>
            <a:r>
              <a:rPr b="0" sz="1000">
                <a:solidFill>
                  <a:srgbClr val="334155"/>
                </a:solidFill>
                <a:latin typeface="Calibri"/>
              </a:rPr>
              <a:t>Delivers unambiguous recommendation with a 12-month target price.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Bull &amp; Bear Case:  </a:t>
            </a:r>
            <a:r>
              <a:rPr b="0" sz="1000">
                <a:solidFill>
                  <a:srgbClr val="334155"/>
                </a:solidFill>
                <a:latin typeface="Calibri"/>
              </a:rPr>
              <a:t>Structures competitive moats against key downside risk factors.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Regex Sanitization: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Strips currency symbols from LLM strings for strict numeric casting.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Lead Engineers:  </a:t>
            </a:r>
            <a:r>
              <a:rPr b="0" sz="1000">
                <a:solidFill>
                  <a:srgbClr val="334155"/>
                </a:solidFill>
                <a:latin typeface="Calibri"/>
              </a:rPr>
              <a:t>Shradha Gaikwad (Agent)  ·  Ganesh Swami (State Integration)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72768"/>
            <a:ext cx="5349240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72768"/>
            <a:ext cx="64008" cy="49194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59669"/>
                </a:solidFill>
                <a:latin typeface="Calibri"/>
              </a:defRPr>
            </a:pPr>
            <a:r>
              <a:t>Quantitative Risk Integration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Annualized Volatility:  </a:t>
            </a:r>
            <a:r>
              <a:rPr b="0" sz="1000">
                <a:solidFill>
                  <a:srgbClr val="334155"/>
                </a:solidFill>
                <a:latin typeface="Calibri"/>
              </a:rPr>
              <a:t>Daily return dispersion scaled across 252 active annual trading sessions.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Calendar Correction: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Excludes market holidays and weekends to prevent non-trading-day skew.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Empirical Validation: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AAPL 1-year volatility at 19.4 % — within Bloomberg institutional range.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Maximum Drawdown:  </a:t>
            </a:r>
            <a:r>
              <a:rPr b="0" sz="1000">
                <a:solidFill>
                  <a:srgbClr val="334155"/>
                </a:solidFill>
                <a:latin typeface="Calibri"/>
              </a:rPr>
              <a:t>Largest historical peak-to-trough decline for downside risk profiling.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Risk Tier Flags:  </a:t>
            </a:r>
            <a:r>
              <a:rPr b="0" sz="1000">
                <a:solidFill>
                  <a:srgbClr val="334155"/>
                </a:solidFill>
                <a:latin typeface="Calibri"/>
              </a:rPr>
              <a:t>Auto-classifies: Low (&lt; 20 %)  ·  Moderate (20–35 %)  ·  High (&gt; 35 %)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Data Layer — Vector RAG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SEC EDGAR  ·  ChromaDB  ·  Gemini Embeddings  ·  Zero-Hallucination Retrieval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DATA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SEC Filings &amp; Dense Vector RAG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633472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633472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1D4ED8"/>
                </a:solidFill>
                <a:latin typeface="Calibri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F2040"/>
                </a:solidFill>
                <a:latin typeface="Calibri"/>
              </a:rPr>
              <a:t>ACQUIRE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68880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1D4ED8"/>
                </a:solidFill>
                <a:latin typeface="Calibri"/>
              </a:rPr>
              <a:t>SEC EDGAR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2267712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990088"/>
            <a:ext cx="2304288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Official 10-K / 20-F filings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Accession number tracking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Gzip-stream decompression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HTTP 403 user-agent fix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6412" y="1572768"/>
            <a:ext cx="2633472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6412" y="1572768"/>
            <a:ext cx="2633472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7852" y="1664208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059669"/>
                </a:solidFill>
                <a:latin typeface="Calibri"/>
              </a:rPr>
              <a:t>STEP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7852" y="20116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F2040"/>
                </a:solidFill>
                <a:latin typeface="Calibri"/>
              </a:rPr>
              <a:t>CHUNK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7852" y="2468880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059669"/>
                </a:solidFill>
                <a:latin typeface="Calibri"/>
              </a:rPr>
              <a:t>Structure-Aware Split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9292" y="2871216"/>
            <a:ext cx="2267712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61004" y="2990088"/>
            <a:ext cx="2304288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1,500 chars · 150 overlap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Double-newline priority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Financial table row integrity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UTF-8 normalisation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98464" y="1572768"/>
            <a:ext cx="2633472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98464" y="1572768"/>
            <a:ext cx="2633472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9904" y="1664208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6D28D9"/>
                </a:solidFill>
                <a:latin typeface="Calibri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20116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F2040"/>
                </a:solidFill>
                <a:latin typeface="Calibri"/>
              </a:rPr>
              <a:t>EMBED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2468880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6D28D9"/>
                </a:solidFill>
                <a:latin typeface="Calibri"/>
              </a:rPr>
              <a:t>Gemini text-embedding-004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2871216"/>
            <a:ext cx="2267712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63056" y="2990088"/>
            <a:ext cx="2304288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3,072-dimensional vectors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Financial semantic capture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Strict ticker metadata tag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Cosine similarity optimised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00516" y="1572768"/>
            <a:ext cx="2633472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00516" y="1572768"/>
            <a:ext cx="2633472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91956" y="1664208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334155"/>
                </a:solidFill>
                <a:latin typeface="Calibri"/>
              </a:rPr>
              <a:t>STEP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91956" y="20116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F2040"/>
                </a:solidFill>
                <a:latin typeface="Calibri"/>
              </a:rPr>
              <a:t>RETRIEVE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1956" y="2468880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Calibri"/>
              </a:rPr>
              <a:t>ChromaDB Vector Store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3396" y="2871216"/>
            <a:ext cx="2267712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5108" y="2990088"/>
            <a:ext cx="2304288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filter={'ticker': target}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Zero cross-stock leakage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&lt; 50 ms query latency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Verbatim context grounding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Technology Stack &amp; AWS Deployment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Framework Decisions  ·  Cloud Hosting  ·  Containerisation  ·  Cost Efficiency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Framework Selection &amp; Architectural Justification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572768"/>
          <a:ext cx="10972800" cy="4919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4663440"/>
              </a:tblGrid>
              <a:tr h="61493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Layer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Selected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Alternative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This Choice?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Agent Orchestration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LangGraph ^0.2.20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CrewAI / AutoGen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Native interrupt() HITL, stateful DAG, persistent thread checkpointing.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LLM Inference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Gemini 2.5 Flash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GPT-4o / Claude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Fast inference, generous context, &lt; $0.003 per full research run.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Vector Database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ChromaDB ^0.5.5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Pinecone / FAISS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Embedded persistence, no external cloud, strict ticker metadata isolation.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Frontend Dashboard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Streamlit ^1.38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FastAPI + React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Rapid prototyping, built-in session state, native streaming support.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Cloud Compute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AWS EC2 t3.medium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Lambda / Fargate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Persistent ChromaDB disk cache, predictable cost, systemd stability.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Object Storage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AWS S3 (boto3)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Local Disk Only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Durable 10-K archive and certified report storage with graceful fallback.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Containerisation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Docker Compose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Kubernetes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Hermetic multi-service packaging; one-command local and cloud deploy.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Performance &amp; Benchmarking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Speed  ·  Cost  ·  Accuracy  ·  Reliability — Validated Against Industry Baselines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System Performance &amp; Verification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60604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Calibri"/>
              </a:rPr>
              <a:t>45 %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Faster Research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vs sequential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572768"/>
            <a:ext cx="26060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059669"/>
                </a:solidFill>
                <a:latin typeface="Calibri"/>
              </a:rPr>
              <a:t>&lt; $0.003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Cost per Full Run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Gemini Flash inference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72768"/>
            <a:ext cx="2606040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B45309"/>
                </a:solidFill>
                <a:latin typeface="Calibri"/>
              </a:rPr>
              <a:t>19.4 %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AAPL Volatility Match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Bloomberg 18–20 % range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572768"/>
            <a:ext cx="2606040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6D28D9"/>
                </a:solidFill>
                <a:latin typeface="Calibri"/>
              </a:rPr>
              <a:t>100 %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Test Suite Pass Rate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end-to-end integration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94360" y="3127248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86000"/>
                <a:gridCol w="2286000"/>
                <a:gridCol w="4023360"/>
              </a:tblGrid>
              <a:tr h="67299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System Result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Outcome &amp; Impact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67299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Analysis Latency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13.2 s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24.5 s (sequential)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45.7 % reduction via concurrent agent fan-out.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7299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Token Efficiency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4,200 tokens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14,500 (chat loop)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71 % token cut — isolated single-agent contexts.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7299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Inference Cost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$0.0028 / run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$0.08+ (GPT-4o)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96.5 % cost reduction using Gemini Flash.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7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Volatility Accuracy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19.4 % (AAPL)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18.5–20.0 % BBG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Institutional parity on 252-trading-day window.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TEAM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Individual Engineering Attribution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572768"/>
          <a:ext cx="10972800" cy="4919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4389120"/>
                <a:gridCol w="2286000"/>
              </a:tblGrid>
              <a:tr h="81991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Team Member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Domain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Contributions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Core Modules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Ganesh Swami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Backend &amp; Cloud Lead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LangGraph DAG topology · Parallel fan-out reducers · HITL interrupt gate · AWS EC2 setup script · S3 client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workflow_service.py</a:t>
                      </a:r>
                      <a:br/>
                      <a:r>
                        <a:t>state.py · hitl_review.py</a:t>
                      </a:r>
                      <a:br/>
                      <a:r>
                        <a:t>setup_ec2.sh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Shradha Gaikwad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Financial Modeling Lead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Market Research Agent · Summary Agent synthesis · 252-day volatility &amp; drawdown modeling · Pydantic schemas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market_research.py</a:t>
                      </a:r>
                      <a:br/>
                      <a:r>
                        <a:t>summary_agent.py</a:t>
                      </a:r>
                      <a:br/>
                      <a:r>
                        <a:t>financial.py · report.py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Sagar Trimukhe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Frontend &amp; HITL Lead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3-Tab Streamlit dashboard · Docker containerisation · Trend Analysis co-lead · AWS S3 integration · HITL state binding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app/main.py · Dockerfile</a:t>
                      </a:r>
                      <a:br/>
                      <a:r>
                        <a:t>trend_analysis.py</a:t>
                      </a:r>
                      <a:br/>
                      <a:r>
                        <a:t>export_service.py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Nilanjan Das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Data Engineering Lead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270-stock NASDAQ catalog · SEC EDGAR 10-K ingestion · ChromaDB vector store · Trend &amp; Sentiment Agent co-lead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nasdaq_universe.py</a:t>
                      </a:r>
                      <a:br/>
                      <a:r>
                        <a:t>fetch_real_10k_filings.py</a:t>
                      </a:r>
                      <a:br/>
                      <a:r>
                        <a:t>document_ingestion.py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Nikhil Gaikwad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Integration &amp; QA Lead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Comparative Valuation Agent · yfinance live telemetry · Rate-limit backoff engine · Automated test suite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comparative_analysis.py</a:t>
                      </a:r>
                      <a:br/>
                      <a:r>
                        <a:t>market_data.py</a:t>
                      </a:r>
                      <a:br/>
                      <a:r>
                        <a:t>financial_tools.py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Key Achievements &amp; Defense Q&amp;A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60604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Calibri"/>
              </a:rPr>
              <a:t>Production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Stateful multi-agent DAG
— not a chatbot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572768"/>
            <a:ext cx="26060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059669"/>
                </a:solidFill>
                <a:latin typeface="Calibri"/>
              </a:rPr>
              <a:t>Zero Unverified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Every memo requires
human certification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72768"/>
            <a:ext cx="2606040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B45309"/>
                </a:solidFill>
                <a:latin typeface="Calibri"/>
              </a:rPr>
              <a:t>45 % Faster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Parallel fan-out
execution architecture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572768"/>
            <a:ext cx="2606040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6D28D9"/>
                </a:solidFill>
                <a:latin typeface="Calibri"/>
              </a:rPr>
              <a:t>&lt; $0.003/run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96 % cost reduction
vs GPT-4o workflows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127248"/>
            <a:ext cx="5349240" cy="336499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3127248"/>
            <a:ext cx="64008" cy="33649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291840"/>
            <a:ext cx="5029200" cy="3072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What We Delivered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Production-Grade DAG:  </a:t>
            </a:r>
            <a:r>
              <a:rPr b="0" sz="1000">
                <a:solidFill>
                  <a:srgbClr val="334155"/>
                </a:solidFill>
                <a:latin typeface="Calibri"/>
              </a:rPr>
              <a:t>Full LangGraph stateful workflow — not a chatbot loop.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Audited Data RAG:  </a:t>
            </a:r>
            <a:r>
              <a:rPr b="0" sz="1000">
                <a:solidFill>
                  <a:srgbClr val="334155"/>
                </a:solidFill>
                <a:latin typeface="Calibri"/>
              </a:rPr>
              <a:t>Verbatim SEC 10-K retrieval via ChromaDB vector store.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AWS Cloud Deploy:  </a:t>
            </a:r>
            <a:r>
              <a:rPr b="0" sz="1000">
                <a:solidFill>
                  <a:srgbClr val="334155"/>
                </a:solidFill>
                <a:latin typeface="Calibri"/>
              </a:rPr>
              <a:t>Fully containerised on EC2 with S3 document archiving.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Governance Gate:  </a:t>
            </a:r>
            <a:r>
              <a:rPr b="0" sz="1000">
                <a:solidFill>
                  <a:srgbClr val="334155"/>
                </a:solidFill>
                <a:latin typeface="Calibri"/>
              </a:rPr>
              <a:t>HITL ensures zero unverified AI memorandum dissemination.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127248"/>
            <a:ext cx="5349240" cy="336499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127248"/>
            <a:ext cx="64008" cy="33649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291840"/>
            <a:ext cx="5029200" cy="3072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59669"/>
                </a:solidFill>
                <a:latin typeface="Calibri"/>
              </a:defRPr>
            </a:pPr>
            <a:r>
              <a:t>Future Roadmap &amp; Q&amp;A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Multi-Modal Parsing:  </a:t>
            </a:r>
            <a:r>
              <a:rPr b="0" sz="1000">
                <a:solidFill>
                  <a:srgbClr val="334155"/>
                </a:solidFill>
                <a:latin typeface="Calibri"/>
              </a:rPr>
              <a:t>Vision models for financial charts and non-standard schedules.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Earnings Call Audio:  </a:t>
            </a:r>
            <a:r>
              <a:rPr b="0" sz="1000">
                <a:solidFill>
                  <a:srgbClr val="334155"/>
                </a:solidFill>
                <a:latin typeface="Calibri"/>
              </a:rPr>
              <a:t>Transcription &amp; sentiment from quarterly executive calls.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Multi-Asset Coverage:  </a:t>
            </a:r>
            <a:r>
              <a:rPr b="0" sz="1000">
                <a:solidFill>
                  <a:srgbClr val="334155"/>
                </a:solidFill>
                <a:latin typeface="Calibri"/>
              </a:rPr>
              <a:t>Extending to fixed-income, ETFs and global indices.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Live Demo Ready:  </a:t>
            </a:r>
            <a:r>
              <a:rPr b="0" sz="1000">
                <a:solidFill>
                  <a:srgbClr val="334155"/>
                </a:solidFill>
                <a:latin typeface="Calibri"/>
              </a:rPr>
              <a:t>Team is prepared to demonstrate a live equity analysis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