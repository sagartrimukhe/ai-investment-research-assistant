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05072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92608"/>
            <a:ext cx="352958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IIT ROORKEE  &amp;  FUTURENSE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566928"/>
            <a:ext cx="352958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Calibri"/>
              </a:rPr>
              <a:t>Advanced PG Certification in AI Engineering on Cloud &amp; AIOps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896112"/>
            <a:ext cx="3291840" cy="18288"/>
          </a:xfrm>
          <a:prstGeom prst="rect">
            <a:avLst/>
          </a:prstGeom>
          <a:solidFill>
            <a:srgbClr val="28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78992"/>
            <a:ext cx="3529584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AI Investment
Research
Assistant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" y="2834640"/>
            <a:ext cx="3291840" cy="34747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871216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CAPSTONE FINAL DEFENSE  ·  THEME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310128"/>
            <a:ext cx="352958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Autonomous Multi-Agent
Equity Research Platform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201168"/>
            <a:ext cx="1499616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0016" y="384048"/>
            <a:ext cx="914400" cy="9144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Ganesh Swami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028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Calibri"/>
              </a:rPr>
              <a:t>Backend &amp; Cloud Lead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028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LangGraph DAG
AWS EC2
Docker Compose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6188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61888" y="201168"/>
            <a:ext cx="1499616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54496" y="384048"/>
            <a:ext cx="914400" cy="9144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449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Shradha Gaikwad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059669"/>
                </a:solidFill>
                <a:latin typeface="Calibri"/>
              </a:rPr>
              <a:t>Financial Modeling Lead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5332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Market Research
Summary Agent
Pydantic Schemas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1636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201168"/>
            <a:ext cx="1499616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08976" y="384048"/>
            <a:ext cx="914400" cy="91440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897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Sagar Trimukhe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9924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B45309"/>
                </a:solidFill>
                <a:latin typeface="Calibri"/>
              </a:rPr>
              <a:t>Frontend &amp; HITL Lead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9924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780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Streamlit UI
Docker
S3 Export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7084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70848" y="201168"/>
            <a:ext cx="1499616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63456" y="384048"/>
            <a:ext cx="914400" cy="9144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6345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Nilanjan Das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372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6D28D9"/>
                </a:solidFill>
                <a:latin typeface="Calibri"/>
              </a:rPr>
              <a:t>Data Engineering Lead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372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SEC EDGAR
ChromaDB
RAG Pipeline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2532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25328" y="201168"/>
            <a:ext cx="1499616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917936" y="384048"/>
            <a:ext cx="914400" cy="914400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1793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Nikhil Gaikwad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0820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9848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Calibri"/>
              </a:rPr>
              <a:t>Integration &amp; QA Lead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80820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1676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yfinance
Rate Limiter
Test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Why traditional equity research fails — and how autonomous AI fixes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The Industry Problem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Manual Bottleneck: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Analysts spend 8–15 hrs per company compiling 10-Ks, pricing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Information Silos: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Financials, live market data and macro news live in disconnected platforms.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LLM Hallucinations:  </a:t>
            </a:r>
            <a:r>
              <a:rPr b="0" sz="1000">
                <a:solidFill>
                  <a:srgbClr val="334155"/>
                </a:solidFill>
                <a:latin typeface="Calibri"/>
              </a:rPr>
              <a:t>Generic models invent audited figures and miss compliance guardrails.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No Human Oversight:  </a:t>
            </a:r>
            <a:r>
              <a:rPr b="0" sz="1000">
                <a:solidFill>
                  <a:srgbClr val="334155"/>
                </a:solidFill>
                <a:latin typeface="Calibri"/>
              </a:rPr>
              <a:t>Pure automation without review creates regulatory and reputational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The Autonomous Solution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Specialist Agent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 orchestrates purpose-built nodes — not a monolithic prompt.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45 % Faster Research: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parallel fan-out cuts end-to-end analysis time significantly.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Vector-Grounded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ChromaDB retrieves verbatim balance-sheet data from SEC EDGAR 10-Ks.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Mandatory Review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No memorandum is published without explicit human-analyst certification.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Stateful DAG  ·  Parallel Agents  ·  Vector RAG  ·  Human Interrupt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560320" cy="4919472"/>
          </a:xfrm>
          <a:prstGeom prst="round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243230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5-Stage
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2432304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B4C8E6"/>
                </a:solidFill>
                <a:latin typeface="Calibri"/>
              </a:rPr>
              <a:t>LangGraph DAG
·  ChromaDB RAG
·  Gemini 2.5 Flash
·  Streamlit UI
·  AWS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59436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6996" y="1572768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64208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① Router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29968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Validates ticker from 270-stock catalog · assigns benchmark peer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560320"/>
            <a:ext cx="59436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6996" y="2560320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651760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② Market Research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017520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Retrieves 10-K balance-sheet data from ChromaDB vector 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3547872"/>
            <a:ext cx="59436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96996" y="3547872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③ Trend &amp; Sentiment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005072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Scores macro &amp; news sentiment on a –1.0 to +1.0 index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535424"/>
            <a:ext cx="59436" cy="8686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96996" y="4535424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626864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</a:rPr>
              <a:t>④ Comparative 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992624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Pulls live P/E · EV/EBITDA · PEG ratios via yfinance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5522976"/>
            <a:ext cx="59436" cy="8686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96996" y="5522976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5614416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</a:rPr>
              <a:t>⑤ CIO Summary + HITL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980176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Synthesises thesis · routes to human-analyst certification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Specialized Agent Nodes &amp;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258568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Calibri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Ganesh Swami
&amp; Nilanjan 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270-stock catalog validation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Assigns benchmark peer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Initialises graph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6936" y="1572768"/>
            <a:ext cx="2258568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Calibri"/>
              </a:rPr>
              <a:t>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Sagar Trimukhe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9816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10-K balance-sheet extraction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Revenue, margins, net income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Verbatim SEC RAG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9512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39512" y="1572768"/>
            <a:ext cx="2258568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B45309"/>
                </a:solidFill>
                <a:latin typeface="Calibri"/>
              </a:rPr>
              <a:t>TREND &amp; SENTIMENT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Nilanjan Das
&amp; Sagar Trimukhe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2392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7528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Live macro &amp; news analysis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Sentiment index –1.0 → +1.0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Regulatory &amp; industry catalysts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62088" y="1572768"/>
            <a:ext cx="2258568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1816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Calibri"/>
              </a:rPr>
              <a:t>COMP. 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Nikhil Gaikwad
&amp; Shradha Gaikwad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4968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0104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P/E · EV/EBITDA · PEG (live)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Dual-strategy tool fallback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Peer multiple differentials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84664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4664" y="1572768"/>
            <a:ext cx="2258568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94392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334155"/>
                </a:solidFill>
                <a:latin typeface="Calibri"/>
              </a:rPr>
              <a:t>CIO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Ganesh Swami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67544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BUY / HOLD / SELL + target price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Volatility &amp; drawdown metrics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Routes to HITL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Parallel Fan-Out  ·  State Reducers  ·  HITL Gate  ·  Quantitative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Latency Reduction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13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Avg. Run Time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per full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24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Sequential Baseline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before parallelisation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Race Conditions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custom state reducers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035808"/>
            <a:ext cx="64008" cy="3456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Why Parallel Fan-Out?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Workstreams:  </a:t>
            </a:r>
            <a:r>
              <a:rPr b="0" sz="1000">
                <a:solidFill>
                  <a:srgbClr val="334155"/>
                </a:solidFill>
                <a:latin typeface="Calibri"/>
              </a:rPr>
              <a:t>Market Research &amp; Trend Analysis are fully decoupled — no shared dependencies.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Concurrent Execution: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Both agents fire simultaneously after Router, cutting wall-clock time by 45 %.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Isolated Contexts:  </a:t>
            </a:r>
            <a:r>
              <a:rPr b="0" sz="1000">
                <a:solidFill>
                  <a:srgbClr val="334155"/>
                </a:solidFill>
                <a:latin typeface="Calibri"/>
              </a:rPr>
              <a:t>Each agent holds only its domain prompt — no token interference between branches.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Resilience: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A news-fetch delay does not block balance-sheet extraction from completing.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035808"/>
            <a:ext cx="64008" cy="3456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Custom Reducer Architecture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The Merge Problem: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writes trigger InvalidUpdateError in standard LangGraph channels.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Annotated Reducers: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app/core/state.py uses Annotated[T, _keep_latest] for deterministic merges.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Zero Data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Fan-In at Comparative Valuation smoothly consumes both parallel outputs.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Schema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All merged payloads pass Pydantic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468880" cy="491947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2340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Mandatory
Compliance
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566160"/>
            <a:ext cx="2340864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DCF5EB"/>
                </a:solidFill>
                <a:latin typeface="Calibri"/>
              </a:rPr>
              <a:t>No AI-generated
memorandum is
published without
explicit analyst
sign-off.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72768"/>
            <a:ext cx="8275320" cy="228600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72768"/>
            <a:ext cx="64008" cy="2286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7955280" cy="1993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How the Gate Works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Graph Interruption: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langgraph.types.interrupt() freezes execution before final publishing.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State Serialization: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MemorySaver writes full graph state to disk under a unique session thread ID.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Analyst Workspace: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Tab 3 dashboard shows draft rating, risk metrics and investment thesis.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Certification: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 reviews, edits, certifies — execution resumes with full audit trail.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986784"/>
            <a:ext cx="8275320" cy="2322576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3986784"/>
            <a:ext cx="64008" cy="23225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4151376"/>
            <a:ext cx="7955280" cy="2029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Engineering Challenges Solved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Streamlit Rerun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Solved by persisting LangGraph thread ID in st.session_state across reruns.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Clean Resumption: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Command(resume=payload) restores from checkpoint — no agents re-executed.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Sagar Trimukhe (UI &amp; State)  ·  Ganesh Swami (LangGraph Interrupt)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CIO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Summary Agent &amp; Quantitative Risk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Investment Thesis Synthesis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Holistic Blending: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Merges 10-K fundamentals, macro catalysts,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BUY / HOLD / SELL:  </a:t>
            </a:r>
            <a:r>
              <a:rPr b="0" sz="1000">
                <a:solidFill>
                  <a:srgbClr val="334155"/>
                </a:solidFill>
                <a:latin typeface="Calibri"/>
              </a:rPr>
              <a:t>Delivers unambiguous recommendation with a 12-month target price.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Bull &amp; Bear Case: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Structures competitive moats against key downside risk factors.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Regex Sanitization: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Strips currency symbols from LLM strings for strict numeric casting.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Shradha Gaikwad (Agent)  ·  Ganesh Swami (State Integration)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Quantitative Risk Integration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Annualized Volatility:  </a:t>
            </a:r>
            <a:r>
              <a:rPr b="0" sz="1000">
                <a:solidFill>
                  <a:srgbClr val="334155"/>
                </a:solidFill>
                <a:latin typeface="Calibri"/>
              </a:rPr>
              <a:t>Daily return dispersion scaled across 252 active annual trading sessions.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Calendar Correction: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Excludes market holidays and weekends to prevent non-trading-day skew.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Empirical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AAPL 1-year volatility at 19.4 % — within Bloomberg institutional range.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Maximum Drawdown: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Largest historical peak-to-trough decline for downside risk profiling.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Risk Tier Flags: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Auto-classifies: Low (&lt; 20 %)  ·  Moderate (20–35 %)  ·  High (&gt; 35 %)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33472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D4ED8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Calibri"/>
              </a:rPr>
              <a:t>SEC EDGAR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Official 10-K / 20-F filings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Accession number tracking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Gzip-stream decompression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HTTP 403 user-agent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6412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6412" y="1572768"/>
            <a:ext cx="263347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7852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Calibr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7852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CHUNK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7852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Structure-Aware Split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9292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1004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1,500 chars · 150 overlap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Double-newline priority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table row integrity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UTF-8 normalisation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8464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572768"/>
            <a:ext cx="2633472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9904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6D28D9"/>
                </a:solidFill>
                <a:latin typeface="Calibri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EMBED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6D28D9"/>
                </a:solidFill>
                <a:latin typeface="Calibri"/>
              </a:rPr>
              <a:t>Gemini text-embedding-004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3,072-dimensional vectors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semantic capture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Strict ticker metadata tag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Cosine similarity optimised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0516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0516" y="1572768"/>
            <a:ext cx="2633472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91956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334155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1956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RETRIEVE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1956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Calibri"/>
              </a:rPr>
              <a:t>ChromaDB Vector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3396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5108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filter={'ticker': target}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Zero cross-stock leakage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&lt; 50 ms query latency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4663440"/>
              </a:tblGrid>
              <a:tr h="61493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This Choice?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HITL, stateful DAG, persistent thread checkpointing.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 inference, generous context, &lt; $0.003 per full research run.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persistence, no external cloud, strict ticker metadata isolation.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built-in session state, native streaming support.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10-K archive and certified report storage with graceful fallback.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Faster Research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&lt; $0.003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Cost per Full Run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Gemini Flash 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19.4 %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AAPL Volatility Match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Bloomberg 18–20 % range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100 %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Test Suite Pass Rate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end-to-end integration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3127248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4023360"/>
              </a:tblGrid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Result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 &amp; Impact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Latency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 (sequential)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Efficiency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(chat loop)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(GPT-4o)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Volatility Accuracy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19.4 % (AAPL)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18.5–20.0 % BBG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Individual Engineering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389120"/>
                <a:gridCol w="2286000"/>
              </a:tblGrid>
              <a:tr h="8199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Contributions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Modules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&amp; Cloud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DAG topology · Parallel fan-out reducers · HITL interrupt gate · AWS EC2 setup script · S3 client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Modeling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Summary Agent synthesis · 252-day volatility &amp; drawdown modeling · Pydantic schemas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&amp; HITL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3-Tab Streamlit dashboard · Docker containerisation · Trend Analysis co-lead · AWS S3 integration · HITL state binding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catalog · SEC EDGAR 10-K ingestion · ChromaDB vector store · Trend &amp; Sentiment Agent co-lead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Integration &amp; QA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yfinance live telemetry · Rate-limit backoff engine · Automated test suite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Key Achievements &amp; Defense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Production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Stateful multi-agent DAG
— not a chatbot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Zero Unverified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Every memo requires
human certification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45 % Faster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Parallel fan-out
execution 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&lt; $0.003/run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96 % cost reduction
vs GPT-4o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127248"/>
            <a:ext cx="64008" cy="3364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What We Delivered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Production-Grade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 LangGraph stateful workflow — not a chatbot loop.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Audited Data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Verbatim SEC 10-K retrieval via ChromaDB vector store.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AWS Cloud Deploy: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Fully containerised on EC2 with S3 document archiving.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Governance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HITL ensures zero unverified AI memorandum dissemination.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127248"/>
            <a:ext cx="64008" cy="33649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Future Roadmap &amp; Q&amp;A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Multi-Modal Parsing: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Vision models for financial charts and non-standard schedules.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Earnings Call Audio:  </a:t>
            </a:r>
            <a:r>
              <a:rPr b="0" sz="1000">
                <a:solidFill>
                  <a:srgbClr val="334155"/>
                </a:solidFill>
                <a:latin typeface="Calibri"/>
              </a:rPr>
              <a:t>Transcription &amp; sentiment from quarterly executive calls.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Multi-Asset Coverage: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Extending to fixed-income, ETFs and global indices.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Live Demo Ready:  </a:t>
            </a:r>
            <a:r>
              <a:rPr b="0" sz="1000">
                <a:solidFill>
                  <a:srgbClr val="334155"/>
                </a:solidFill>
                <a:latin typeface="Calibri"/>
              </a:rPr>
              <a:t>Team is prepared to demonstrate a live equity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