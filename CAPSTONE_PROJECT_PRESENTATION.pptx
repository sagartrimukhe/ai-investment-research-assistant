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106984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1D4ED8"/>
                </a:solidFill>
                <a:latin typeface="Calibri"/>
              </a:rPr>
              <a:t>AUTONOMOUS EQUITY INTELLIGENCE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069848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Calibri"/>
              </a:rPr>
              <a:t>Autonomous Multi-Agent Architecture &amp; Financial Modeling  ·  Capstone Final Defense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400" b="1">
                <a:solidFill>
                  <a:srgbClr val="0F2040"/>
                </a:solidFill>
                <a:latin typeface="Calibri"/>
              </a:rPr>
              <a:t>AI Investment Research Assistant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755648"/>
            <a:ext cx="1069848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50" b="0">
                <a:solidFill>
                  <a:srgbClr val="334155"/>
                </a:solidFill>
                <a:latin typeface="Calibri"/>
              </a:rPr>
              <a:t>Autonomous Multi-Agent Equity Research Platform with LangGraph, Gemini &amp; SEC RAG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76272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31720"/>
            <a:ext cx="512064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PROJECT SPECIFICATIONS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Domain &amp; Scope: </a:t>
            </a:r>
            <a:r>
              <a:rPr sz="1050" b="0">
                <a:solidFill>
                  <a:srgbClr val="334155"/>
                </a:solidFill>
                <a:latin typeface="Calibri"/>
              </a:rPr>
              <a:t>Autonomous Equity Research &amp; Institutional Analysis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Agent Orchestration: </a:t>
            </a:r>
            <a:r>
              <a:rPr sz="1050" b="0">
                <a:solidFill>
                  <a:srgbClr val="334155"/>
                </a:solidFill>
                <a:latin typeface="Calibri"/>
              </a:rPr>
              <a:t>LangGraph Stateful Directed Acyclic Graph (DAG)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LLM Inference: </a:t>
            </a:r>
            <a:r>
              <a:rPr sz="1050" b="0">
                <a:solidFill>
                  <a:srgbClr val="334155"/>
                </a:solidFill>
                <a:latin typeface="Calibri"/>
              </a:rPr>
              <a:t>Google Gemini 2.5 Flash (&lt; $0.003 per full research run)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Knowledge Base: </a:t>
            </a:r>
            <a:r>
              <a:rPr sz="1050" b="0">
                <a:solidFill>
                  <a:srgbClr val="334155"/>
                </a:solidFill>
                <a:latin typeface="Calibri"/>
              </a:rPr>
              <a:t>ChromaDB Vector Store + SEC EDGAR 10-K Annual Filings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Frontend Interface: </a:t>
            </a:r>
            <a:r>
              <a:rPr sz="1050" b="0">
                <a:solidFill>
                  <a:srgbClr val="334155"/>
                </a:solidFill>
                <a:latin typeface="Calibri"/>
              </a:rPr>
              <a:t>Streamlit Interactive 3-Tab Analyst Dashboard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Cloud Infrastructure: </a:t>
            </a:r>
            <a:r>
              <a:rPr sz="1050" b="0">
                <a:solidFill>
                  <a:srgbClr val="334155"/>
                </a:solidFill>
                <a:latin typeface="Calibri"/>
              </a:rPr>
              <a:t>AWS EC2 &amp; S3 (Docker Containerized Deployment)</a:t>
            </a:r>
          </a:p>
          <a:p>
            <a:pPr>
              <a:lnSpc>
                <a:spcPct val="115000"/>
              </a:lnSpc>
              <a:spcBef>
                <a:spcPts val="6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Coverage Universe: </a:t>
            </a:r>
            <a:r>
              <a:rPr sz="1050" b="0">
                <a:solidFill>
                  <a:srgbClr val="334155"/>
                </a:solidFill>
                <a:latin typeface="Calibri"/>
              </a:rPr>
              <a:t>270-Stock S&amp;P 500 &amp; NASDAQ Equities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2331720"/>
            <a:ext cx="5212080" cy="3840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PROJECT TEAM &amp; LEAD ROLES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1.  Ganesh Swami  —  </a:t>
            </a:r>
            <a:r>
              <a:rPr sz="1000">
                <a:solidFill>
                  <a:srgbClr val="64748B"/>
                </a:solidFill>
                <a:latin typeface="Calibri"/>
              </a:rPr>
              <a:t>Backend Architecture &amp; Cloud DevOps Lead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2.  Shradha Gaikwad  —  </a:t>
            </a:r>
            <a:r>
              <a:rPr sz="1000">
                <a:solidFill>
                  <a:srgbClr val="64748B"/>
                </a:solidFill>
                <a:latin typeface="Calibri"/>
              </a:rPr>
              <a:t>Financial Agent Intelligence &amp; Modeling Lead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3.  Sagar Trimukhe  —  </a:t>
            </a:r>
            <a:r>
              <a:rPr sz="1000">
                <a:solidFill>
                  <a:srgbClr val="64748B"/>
                </a:solidFill>
                <a:latin typeface="Calibri"/>
              </a:rPr>
              <a:t>Frontend UI &amp; HITL Integration Lead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4.  Nilanjan Das  —  </a:t>
            </a:r>
            <a:r>
              <a:rPr sz="1000">
                <a:solidFill>
                  <a:srgbClr val="64748B"/>
                </a:solidFill>
                <a:latin typeface="Calibri"/>
              </a:rPr>
              <a:t>Data Engineering &amp; SEC RAG Pipeline Lead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100" b="1">
                <a:solidFill>
                  <a:srgbClr val="0F2040"/>
                </a:solidFill>
                <a:latin typeface="Calibri"/>
              </a:rPr>
              <a:t>5.  Nikhil Gaikwad  —  </a:t>
            </a:r>
            <a:r>
              <a:rPr sz="1000">
                <a:solidFill>
                  <a:srgbClr val="64748B"/>
                </a:solidFill>
                <a:latin typeface="Calibri"/>
              </a:rPr>
              <a:t>Full-Stack Integration &amp; QA Lead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 of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The Problem &amp; Our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Why traditional equity research fails — and how autonomous AI fixes it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2 of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CONTEXT &amp;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The Industry Challenge &amp; Autonomous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Comparing manual research bottlenecks against our autonomous multi-agent platform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3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Traditional Equity Research Bottlenecks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Manual Time Overhead: </a:t>
            </a:r>
            <a:r>
              <a:rPr sz="1100" b="0">
                <a:solidFill>
                  <a:srgbClr val="334155"/>
                </a:solidFill>
                <a:latin typeface="Calibri"/>
              </a:rPr>
              <a:t>Human analysts spend 8 to 15 hours per company compiling balance sheets from 100+ page SEC filings, historical price tables, and competitor peer multiples.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Disconnected Information Silos: </a:t>
            </a:r>
            <a:r>
              <a:rPr sz="1100" b="0">
                <a:solidFill>
                  <a:srgbClr val="334155"/>
                </a:solidFill>
                <a:latin typeface="Calibri"/>
              </a:rPr>
              <a:t>Fundamental filings, real-time market quotes, and breaking news reside in separate tools, forcing fragmented copy-paste workflows.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LLM Hallucination Risk: </a:t>
            </a:r>
            <a:r>
              <a:rPr sz="1100" b="0">
                <a:solidFill>
                  <a:srgbClr val="334155"/>
                </a:solidFill>
                <a:latin typeface="Calibri"/>
              </a:rPr>
              <a:t>Standard generative models frequently invent audited financial numbers, deliver stale figures, and lack regulatory compliance constraints.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Absence of Governance: </a:t>
            </a:r>
            <a:r>
              <a:rPr sz="1100" b="0">
                <a:solidFill>
                  <a:srgbClr val="334155"/>
                </a:solidFill>
                <a:latin typeface="Calibri"/>
              </a:rPr>
              <a:t>Pure autonomous black-box generation without structured sign-off creates severe reputational and institutional compliance risk.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Our Autonomous Multi-Agent Solution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Specialized Agent DAG: </a:t>
            </a:r>
            <a:r>
              <a:rPr sz="1100" b="0">
                <a:solidFill>
                  <a:srgbClr val="334155"/>
                </a:solidFill>
                <a:latin typeface="Calibri"/>
              </a:rPr>
              <a:t>LangGraph coordinates role-specific autonomous agents rather than relying on a brittle, monolithic single-prompt loop.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45% Latency Reduction: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Concurrent parallel fan-out of research and sentiment analysis nodes completes end-to-end evaluation in ~13 seconds.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Zero-Hallucination Vector RAG: </a:t>
            </a:r>
            <a:r>
              <a:rPr sz="1100" b="0">
                <a:solidFill>
                  <a:srgbClr val="334155"/>
                </a:solidFill>
                <a:latin typeface="Calibri"/>
              </a:rPr>
              <a:t>ChromaDB retrieves verbatim audited balance-sheet excerpts directly from official SEC EDGAR 10-K annual filings.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Mandatory Human-in-the-Loop Gate: </a:t>
            </a:r>
            <a:r>
              <a:rPr sz="1100" b="0">
                <a:solidFill>
                  <a:srgbClr val="334155"/>
                </a:solidFill>
                <a:latin typeface="Calibri"/>
              </a:rPr>
              <a:t>Interactive compliance checkpoint requires explicit analyst verification before any memorandum is published.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Stateful DAG  ·  Parallel Agents  ·  Vector RAG  ·  Human Interrupt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4 of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End-to-End 5-Stage Multi-Agent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How financial queries progress deterministically from raw input to verified investment memorandum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5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Architecture Fundamentals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Stateful Directed Graph: </a:t>
            </a:r>
            <a:r>
              <a:rPr sz="1100" b="0">
                <a:solidFill>
                  <a:srgbClr val="334155"/>
                </a:solidFill>
                <a:latin typeface="Calibri"/>
              </a:rPr>
              <a:t>Orchestrated via LangGraph StateGraph, guaranteeing deterministic node transitions and robust state propagation across all agents.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Concurrent Execution Branches: </a:t>
            </a:r>
            <a:r>
              <a:rPr sz="1100" b="0">
                <a:solidFill>
                  <a:srgbClr val="334155"/>
                </a:solidFill>
                <a:latin typeface="Calibri"/>
              </a:rPr>
              <a:t>Market research and sentiment analysis run simultaneously after routing, cutting execution latency by nearly half.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Decoupled Single-Agent Prompts: </a:t>
            </a:r>
            <a:r>
              <a:rPr sz="1100" b="0">
                <a:solidFill>
                  <a:srgbClr val="334155"/>
                </a:solidFill>
                <a:latin typeface="Calibri"/>
              </a:rPr>
              <a:t>Each agent executes inside an isolated prompt context, eliminating cross-domain token pollution and LLM cognitive confusion.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Deterministic State Reducers: </a:t>
            </a:r>
            <a:r>
              <a:rPr sz="1100" b="0">
                <a:solidFill>
                  <a:srgbClr val="334155"/>
                </a:solidFill>
                <a:latin typeface="Calibri"/>
              </a:rPr>
              <a:t>Custom state mergers resolve concurrent updates without data loss or race conditions prior to comparative valuation.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The 5-Stage Execution Pipeline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1 — Router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Validates the ticker against the 270-stock catalog and assigns an industry benchmark peer.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2 — Market Research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Retrieves audited balance sheet, income statement, and revenue metrics from ChromaDB SEC 10-K vector store.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3 — Trend &amp; Sentiment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Scans live macroeconomic indicators and news sentiment, generating a normalized score from –1.0 to +1.0.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4 — Comparative Valuation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Pulls real-time P/E, EV/EBITDA, and PEG ratios via yfinance with dual-strategy fallback.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Stage 5 — CIO Summary &amp; HITL Gate: </a:t>
            </a:r>
            <a:r>
              <a:rPr sz="1100" b="0">
                <a:solidFill>
                  <a:srgbClr val="334155"/>
                </a:solidFill>
                <a:latin typeface="Calibri"/>
              </a:rPr>
              <a:t>Synthesizes target price and rating, pauses DAG for analyst review, and publishes upon sign-off.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AGENT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Specialized Agent Nodes &amp; Core Responsibilities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Detailed responsibilities, engineering leads, and technical deliverables across all five agents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6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Data Ingestion &amp; Fundamental Agents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Router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Ganesh Swami &amp; Nilanjan Das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Validates input ticker against curated 270-stock S&amp;P 500 / NASDAQ universe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Assigns benchmark peer company within identical industry classification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Initializes graph channels, session parameters, and thread identifiers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Market Research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Shradha Gaikwad &amp; Sagar Trimukhe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Extracts audited 10-K balance sheet figures via dense vector semantic search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Retrieves annual revenue, operating margins, cash flow, and debt ratios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Guarantees zero hallucination via verbatim SEC citation grounding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Sentiment, Valuation &amp; Synthesis Agents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Trend &amp; Sentiment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Nilanjan Das &amp; Sagar Trimukhe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Analyzes live market news, macroeconomic trends, and industry developments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Produces calibrated sentiment index ranging continuously from –1.0 to +1.0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Highlights sector tailwinds, regulatory hurdles, and near-term catalysts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Comparative Valuation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Nikhil Gaikwad &amp; Shradha Gaikwad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Fetches live P/E, EV/EBITDA, and PEG trading multiples via yfinance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Implements exponential backoff retry logic and dual-strategy data recovery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CIO Summary &amp; Risk Agent: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Leads: Shradha Gaikwad &amp; Ganesh Swami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Delivers final BUY / HOLD / SELL rating, bull/bear cases, and 12-month target price</a:t>
            </a:r>
          </a:p>
          <a:p>
            <a:pPr>
              <a:lnSpc>
                <a:spcPct val="115000"/>
              </a:lnSpc>
              <a:spcBef>
                <a:spcPts val="300"/>
              </a:spcBef>
            </a:pPr>
            <a:r>
              <a:rPr sz="1000">
                <a:solidFill>
                  <a:srgbClr val="64748B"/>
                </a:solidFill>
                <a:latin typeface="Calibri"/>
              </a:rPr>
              <a:t>    –  </a:t>
            </a:r>
            <a:r>
              <a:rPr sz="1000">
                <a:solidFill>
                  <a:srgbClr val="334155"/>
                </a:solidFill>
                <a:latin typeface="Calibri"/>
              </a:rPr>
              <a:t>Computes 252-day annualized volatility and historical maximum drawdown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Key Engineering Highlights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Parallel Fan-Out  ·  State Reducers  ·  HITL Gate  ·  Quantitative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7 of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CONCURRENCY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Parallel Agent Fan-Out &amp; Custom State Reducers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Overcoming sequential latency bottlenecks and graph state race conditions in LangGraph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8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Parallel Fan-Out Benefits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Independent Workstreams: </a:t>
            </a:r>
            <a:r>
              <a:rPr sz="1100" b="0">
                <a:solidFill>
                  <a:srgbClr val="334155"/>
                </a:solidFill>
                <a:latin typeface="Calibri"/>
              </a:rPr>
              <a:t>Market Research (SEC 10-K RAG) and Trend Analysis (news sentiment) operate with zero mutual dependencies, enabling simultaneous invocation.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45.7% Latency Reduction: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End-to-end execution drops from 24.5 seconds in sequential baseline to 13.2 seconds in parallel mode.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Isolated Context Windows: </a:t>
            </a:r>
            <a:r>
              <a:rPr sz="1100" b="0">
                <a:solidFill>
                  <a:srgbClr val="334155"/>
                </a:solidFill>
                <a:latin typeface="Calibri"/>
              </a:rPr>
              <a:t>Each agent operates within its focused prompt domain, preventing token bloat, context dilution, and cross-topic hallucination.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Independent Resilience: </a:t>
            </a:r>
            <a:r>
              <a:rPr sz="1100" b="0">
                <a:solidFill>
                  <a:srgbClr val="334155"/>
                </a:solidFill>
                <a:latin typeface="Calibri"/>
              </a:rPr>
              <a:t>Latency spikes or intermittent rate limits in live news fetching do not block balance-sheet retrieval from completing.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Custom State Reducer Architecture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The Concurrent Merge Challenge: </a:t>
            </a:r>
            <a:r>
              <a:rPr sz="1100" b="0">
                <a:solidFill>
                  <a:srgbClr val="334155"/>
                </a:solidFill>
                <a:latin typeface="Calibri"/>
              </a:rPr>
              <a:t>Standard LangGraph channels raise InvalidUpdateError when concurrent execution branches attempt to write to shared state keys.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Annotated State Reducers: </a:t>
            </a:r>
            <a:r>
              <a:rPr sz="1100" b="0">
                <a:solidFill>
                  <a:srgbClr val="334155"/>
                </a:solidFill>
                <a:latin typeface="Calibri"/>
              </a:rPr>
              <a:t>Engineered Annotated[T, _keep_latest] in app/core/state.py to handle concurrent state writes deterministically.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Lossless Fan-In Consolidation: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Downstream Comparative Valuation node smoothly consumes merged state payloads from both parallel branches.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Pydantic Schema Validation: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All merged state attributes pass strict Pydantic model validation before reaching the summary synthesis stage.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INSTITUTIONAL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Human-in-the-Loop (HITL) Compliance Gate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Mandatory regulatory checkpoint preventing unauthorized AI financial dissemination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9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Compliance Gate Architecture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Mandatory Analyst Verification: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Zero AI-generated research memoranda can be exported, emailed, or published without explicit human-analyst sign-off.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Graph Interruption Primitive: </a:t>
            </a:r>
            <a:r>
              <a:rPr sz="1100" b="0">
                <a:solidFill>
                  <a:srgbClr val="334155"/>
                </a:solidFill>
                <a:latin typeface="Calibri"/>
              </a:rPr>
              <a:t>Employs langgraph.types.interrupt() to freeze DAG execution immediately after draft investment thesis synthesis.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Persistent Checkpointing: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MemorySaver serializes full multi-agent state to persistent storage under a unique session thread ID.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Analyst Review Workspace: </a:t>
            </a:r>
            <a:r>
              <a:rPr sz="1100" b="0">
                <a:solidFill>
                  <a:srgbClr val="334155"/>
                </a:solidFill>
                <a:latin typeface="Calibri"/>
              </a:rPr>
              <a:t>Tab 3 of the Streamlit dashboard surfaces the draft recommendation, risk metrics, and thesis for analyst inspection.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Engineering Solutions &amp; Attribution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Streamlit Rerun Continuity: </a:t>
            </a:r>
            <a:r>
              <a:rPr sz="1100" b="0">
                <a:solidFill>
                  <a:srgbClr val="334155"/>
                </a:solidFill>
                <a:latin typeface="Calibri"/>
              </a:rPr>
              <a:t>Overcame state loss during Streamlit page refreshes by persisting the active thread ID in st.session_state.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Zero Re-Execution Overhead: </a:t>
            </a:r>
            <a:r>
              <a:rPr sz="1100" b="0">
                <a:solidFill>
                  <a:srgbClr val="334155"/>
                </a:solidFill>
                <a:latin typeface="Calibri"/>
              </a:rPr>
              <a:t>Resumes cleanly via Command(resume=payload) directly from the saved checkpoint without repeating upstream agent queries.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Audit Trail Logging: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Captures analyst modifications, sign-off timestamps, and review comments in a permanent compliance log.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Lead Engineering Attribution: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Sagar Trimukhe (UI &amp; State Integration)  ·  Ganesh Swami (LangGraph Interrupt Engine).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INVESTMENT SYNTHESIS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CIO Summary Agent &amp; Quantitative Risk Modeling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Synthesizing multi-agent intelligence into an institutional-grade investment thesis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10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Investment Thesis Synthesis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Holistic Multi-Domain Blending: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Unifies 10-K balance sheet health, macro catalysts, and peer valuation multiples into a single coherent thesis.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Actionable Recommendations: </a:t>
            </a:r>
            <a:r>
              <a:rPr sz="1100" b="0">
                <a:solidFill>
                  <a:srgbClr val="334155"/>
                </a:solidFill>
                <a:latin typeface="Calibri"/>
              </a:rPr>
              <a:t>Delivers unambiguous BUY / HOLD / SELL rating, quantitative conviction score, and 12-month target price.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Bull &amp; Bear Case Scenarios: </a:t>
            </a:r>
            <a:r>
              <a:rPr sz="1100" b="0">
                <a:solidFill>
                  <a:srgbClr val="334155"/>
                </a:solidFill>
                <a:latin typeface="Calibri"/>
              </a:rPr>
              <a:t>Explicitly contrasts competitive economic moats against key downside vulnerabilities and market risks.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Strict Data Sanitization: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Regex parsing strips currency symbols, commas, and formatting noise to guarantee numeric integrity in downstream systems.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Lead Engineers: </a:t>
            </a:r>
            <a:r>
              <a:rPr sz="1100" b="0">
                <a:solidFill>
                  <a:srgbClr val="334155"/>
                </a:solidFill>
                <a:latin typeface="Calibri"/>
              </a:rPr>
              <a:t>Shradha Gaikwad (Agent Modeling)  ·  Ganesh Swami (Graph State Integration).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Quantitative Risk Modeling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252-Day Annualized Volatility: </a:t>
            </a:r>
            <a:r>
              <a:rPr sz="1100" b="0">
                <a:solidFill>
                  <a:srgbClr val="334155"/>
                </a:solidFill>
                <a:latin typeface="Calibri"/>
              </a:rPr>
              <a:t>Calculates return dispersion across standard 252 active trading sessions without mathematical distortion.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Trading Calendar Alignment: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Excludes weekends and market holidays to prevent non-trading day statistical skew.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Empirical Institutional Match: </a:t>
            </a:r>
            <a:r>
              <a:rPr sz="1100" b="0">
                <a:solidFill>
                  <a:srgbClr val="334155"/>
                </a:solidFill>
                <a:latin typeface="Calibri"/>
              </a:rPr>
              <a:t>AAPL 1-year volatility calculated at 19.4%, directly aligning with Bloomberg terminal benchmark range (18.5–20.0%).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Maximum Drawdown Tracking: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Quantifies peak-to-trough capital decline over the trailing 52 weeks to establish historical downside risk.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Automated Risk Tiering: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Classifies assets into Low (&lt; 20%), Moderate (20–35%), or High (&gt; 35%) risk tiers.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Data Layer — Vector RAG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SEC EDGAR  ·  ChromaDB  ·  Gemini Embeddings  ·  Zero-Hallucination Retrieval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11 of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DATA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SEC Filings &amp; Dense Vector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Automated 4-stage pipeline for ingesting, chunking, embedding, and querying audited financial reports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12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Acquisition &amp; Document Chunking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Official SEC EDGAR Ingestion: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Fetches audited 10-K and 20-F annual filings directly from SEC EDGAR systems with institutional accession number tracking.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Gzip Streaming &amp; User-Agent Compliance: </a:t>
            </a:r>
            <a:r>
              <a:rPr sz="1100" b="0">
                <a:solidFill>
                  <a:srgbClr val="334155"/>
                </a:solidFill>
                <a:latin typeface="Calibri"/>
              </a:rPr>
              <a:t>Resolves HTTP 403 blocks with institutional User-Agent headers and uses stream decompression for fast downloads.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Structure-Aware Chunking: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Splits raw financial filings into 1,500-character windows with 150-character overlap to preserve semantic context.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Financial Table Integrity: </a:t>
            </a:r>
            <a:r>
              <a:rPr sz="1100" b="0">
                <a:solidFill>
                  <a:srgbClr val="334155"/>
                </a:solidFill>
                <a:latin typeface="Calibri"/>
              </a:rPr>
              <a:t>Prioritizes double-newline boundaries to ensure accounting schedules and balance-sheet rows remain intact.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Dense Embeddings &amp; Vector Retrieval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Google Gemini text-embedding-004: </a:t>
            </a:r>
            <a:r>
              <a:rPr sz="1100" b="0">
                <a:solidFill>
                  <a:srgbClr val="334155"/>
                </a:solidFill>
                <a:latin typeface="Calibri"/>
              </a:rPr>
              <a:t>Generates 3,072-dimensional dense embeddings tailored for financial semantics, ratios, and numerical relationships.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Granular Metadata Tagging: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Every chunk is stamped with ticker symbol, fiscal year, filing date, and document section tags.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Strict Metadata Pre-Filtering: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Enforces filter={'ticker': target} on ChromaDB queries, mathematically guaranteeing zero cross-stock data leakage.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Sub-50ms Query Latency: </a:t>
            </a:r>
            <a:r>
              <a:rPr sz="1100" b="0">
                <a:solidFill>
                  <a:srgbClr val="334155"/>
                </a:solidFill>
                <a:latin typeface="Calibri"/>
              </a:rPr>
              <a:t>Persistent local ChromaDB storage delivers sub-50ms response times with zero recurring third-party vector cloud costs.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Technology Stack &amp; AWS Deployment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Framework Decisions  ·  Cloud Hosting  ·  Containerisation  ·  Cost Efficiency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13 of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Framework Selection &amp; Architectural Justification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Enterprise architectural evaluation comparing selected tools against evaluated alternatives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14 of 18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011680"/>
                <a:gridCol w="2011680"/>
                <a:gridCol w="4602175"/>
              </a:tblGrid>
              <a:tr h="5715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Architecture Layer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Selected Technology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Alternative Evaluated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Architectural Justification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Agent Orchestration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LangGraph ^0.2.20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CrewAI / AutoGen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Native interrupt() HITL primitive, stateful DAG, persistent thread checkpointing.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LLM Inference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Gemini 2.5 Flash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GPT-4o / Claude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Sub-second latency, generous context window, &lt; $0.003 per full equity research run.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Vector Database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ChromaDB ^0.5.5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Pinecone / FAISS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Embedded local persistence, zero cloud egress costs, strict ticker metadata isolation.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Frontend Dashboard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Streamlit ^1.38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FastAPI + React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Rapid prototyping, native session state binding, interactive 3-tab analyst workflow.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Cloud Compute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AWS EC2 t3.medium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Lambda / Fargate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Persistent ChromaDB disk cache, predictable cost profile, reliable systemd management.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Object Storage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AWS S3 (boto3)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Local Disk Only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Durable cloud storage for certified research memoranda with local fallback.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Containerisation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Docker Compose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Kubernetes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Hermetic multi-service packaging ensuring identical execution locally and on AWS.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103120"/>
            <a:ext cx="996696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60A5FA"/>
                </a:solidFill>
                <a:latin typeface="Calibri"/>
              </a:rPr>
              <a:t>SECTION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514600"/>
            <a:ext cx="99669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Calibri"/>
              </a:rPr>
              <a:t>Performance &amp; Benchmarking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611880"/>
            <a:ext cx="228600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94760"/>
            <a:ext cx="99669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  <a:latin typeface="Calibri"/>
              </a:rPr>
              <a:t>Speed  ·  Cost  ·  Accuracy  ·  Reliability — Validated Against Industry Baselines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6327648"/>
            <a:ext cx="9966960" cy="13716"/>
          </a:xfrm>
          <a:prstGeom prst="rect">
            <a:avLst/>
          </a:prstGeom>
          <a:solidFill>
            <a:srgbClr val="1E3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94A3B8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4630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Calibri"/>
              </a:rPr>
              <a:t>Slide 15 of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BENCHMARKING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System Performance &amp; Verification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Empirical evaluation comparing multi-agent execution against sequential baselines and institutional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16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554480"/>
            <a:ext cx="10728655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45.7% Latency Reduction: </a:t>
            </a:r>
            <a:r>
              <a:rPr sz="1050" b="0">
                <a:solidFill>
                  <a:srgbClr val="334155"/>
                </a:solidFill>
                <a:latin typeface="Calibri"/>
              </a:rPr>
              <a:t>End-to-end research execution drops from 24.5 seconds (sequential baseline) to 13.2 seconds via parallel agent fan-out.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96.5% Inference Cost Savings: </a:t>
            </a:r>
            <a:r>
              <a:rPr sz="1050" b="0">
                <a:solidFill>
                  <a:srgbClr val="334155"/>
                </a:solidFill>
                <a:latin typeface="Calibri"/>
              </a:rPr>
              <a:t>Gemini 2.5 Flash reduces inference cost to $0.0028 per full run, compared to $0.08+ for GPT-4o workflows.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71% Token Efficiency Gain: </a:t>
            </a:r>
            <a:r>
              <a:rPr sz="1050" b="0">
                <a:solidFill>
                  <a:srgbClr val="334155"/>
                </a:solidFill>
                <a:latin typeface="Calibri"/>
              </a:rPr>
              <a:t>Single-agent isolated prompts consume only 4,200 tokens per analysis, down from 14,500 in monolithic chat loops.</a:t>
            </a:r>
          </a:p>
          <a:p>
            <a:pPr>
              <a:lnSpc>
                <a:spcPct val="115000"/>
              </a:lnSpc>
              <a:spcBef>
                <a:spcPts val="400"/>
              </a:spcBef>
            </a:pPr>
            <a:r>
              <a:rPr sz="1050" b="1">
                <a:solidFill>
                  <a:srgbClr val="1D4ED8"/>
                </a:solidFill>
                <a:latin typeface="Calibri"/>
              </a:rPr>
              <a:t>•  </a:t>
            </a:r>
            <a:r>
              <a:rPr sz="1050" b="1">
                <a:solidFill>
                  <a:srgbClr val="0F2040"/>
                </a:solidFill>
                <a:latin typeface="Calibri"/>
              </a:rPr>
              <a:t>Institutional Volatility Parity: </a:t>
            </a:r>
            <a:r>
              <a:rPr sz="1050" b="0">
                <a:solidFill>
                  <a:srgbClr val="334155"/>
                </a:solidFill>
                <a:latin typeface="Calibri"/>
              </a:rPr>
              <a:t>AAPL calculated 252-day volatility of 19.4% precisely aligns with Bloomberg terminal benchmark range (18.5–20.0%).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3017520"/>
          <a:ext cx="10728655" cy="3154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194560"/>
                <a:gridCol w="2194560"/>
                <a:gridCol w="3962095"/>
              </a:tblGrid>
              <a:tr h="63093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Performance Metric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Our System Result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Baseline / Industry Standard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Measured Operational Impact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Analysis Execution Latency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13.2 seconds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24.5 seconds (sequential)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45.7% speedup via concurrent agent fan-out.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Token Consumption per Run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4,200 tokens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14,500 tokens (chat loop)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71% reduction via isolated agent prompt contexts.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Inference Cost per Report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$0.0028 / run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$0.08+ / run (GPT-4o)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96.5% cost reduction using Gemini 2.5 Flash.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630936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Annualized Volatility (AAPL)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19.4%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18.5% – 20.0% (Bloomberg)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Full parity with institutional market data terminals.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TEAM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Individual Engineering Attribution &amp; Ownership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Comprehensive mapping of individual engineering deliverables, system components, and core modules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17 of 18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31520" y="1600200"/>
          <a:ext cx="10728655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86000"/>
                <a:gridCol w="4236415"/>
                <a:gridCol w="2194560"/>
              </a:tblGrid>
              <a:tr h="7620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Team Member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Primary Domain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Engineering Deliverables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Core Code Modules</a:t>
                      </a:r>
                    </a:p>
                  </a:txBody>
                  <a:tcPr marL="109728" marR="109728" marT="73152" marB="73152">
                    <a:solidFill>
                      <a:srgbClr val="0f2040"/>
                    </a:solidFill>
                    <a:lnL w="9525" cmpd="s">
                      <a:solidFill>
                        <a:srgbClr val="0F2040"/>
                      </a:solidFill>
                    </a:lnL>
                    <a:lnR w="9525" cmpd="s">
                      <a:solidFill>
                        <a:srgbClr val="0F2040"/>
                      </a:solidFill>
                    </a:lnR>
                    <a:lnT w="9525" cmpd="s">
                      <a:solidFill>
                        <a:srgbClr val="0F2040"/>
                      </a:solidFill>
                    </a:lnT>
                    <a:lnB w="9525" cmpd="s">
                      <a:solidFill>
                        <a:srgbClr val="0F2040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Ganesh Swami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Backend Architecture &amp; Cloud Lead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LangGraph stateful DAG topology · Parallel fan-out state reducers · HITL interrupt gate · AWS EC2 setup &amp; S3 cloud storage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workflow_service.py</a:t>
                      </a:r>
                      <a:br/>
                      <a:r>
                        <a:t>state.py · hitl_review.py</a:t>
                      </a:r>
                      <a:br/>
                      <a:r>
                        <a:t>setup_ec2.sh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Shradha Gaikwad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Financial Agent Intelligence Lead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Market Research Agent · CIO Summary synthesis · 252-day annualized volatility &amp; drawdown risk engine · Pydantic schemas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market_research.py</a:t>
                      </a:r>
                      <a:br/>
                      <a:r>
                        <a:t>summary_agent.py</a:t>
                      </a:r>
                      <a:br/>
                      <a:r>
                        <a:t>financial.py · report.py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Sagar Trimukhe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Frontend UI &amp; HITL Lead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Streamlit 3-tab dashboard · Trend Analysis co-lead · Docker containerisation · AWS S3 integration · HITL session state binding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app/main.py · Dockerfile</a:t>
                      </a:r>
                      <a:br/>
                      <a:r>
                        <a:t>trend_analysis.py</a:t>
                      </a:r>
                      <a:br/>
                      <a:r>
                        <a:t>export_service.py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Nilanjan Das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Data Engineering &amp; RAG Lead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270-stock NASDAQ universe · SEC EDGAR 10-K ingestion · ChromaDB vector store · Trend &amp; Sentiment Agent co-lead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nasdaq_universe.py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</a:p>
                  </a:txBody>
                  <a:tcPr marL="109728" marR="109728" marT="73152" marB="73152">
                    <a:solidFill>
                      <a:srgbClr val="f8fafc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  <a:tr h="76200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Nikhil Gaikwad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Full-Stack Integration &amp; QA Lead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Comparative Valuation Agent · Live yfinance market telemetry · Exponential backoff engine · Automated end-to-end test suite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334155"/>
                          </a:solidFill>
                          <a:latin typeface="Calibri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</a:t>
                      </a:r>
                    </a:p>
                  </a:txBody>
                  <a:tcPr marL="109728" marR="109728" marT="73152" marB="73152">
                    <a:solidFill>
                      <a:srgbClr val="ffffff"/>
                    </a:solidFill>
                    <a:lnL w="9525" cmpd="s">
                      <a:solidFill>
                        <a:srgbClr val="CBD5E1"/>
                      </a:solidFill>
                    </a:lnL>
                    <a:lnR w="9525" cmpd="s">
                      <a:solidFill>
                        <a:srgbClr val="CBD5E1"/>
                      </a:solidFill>
                    </a:lnR>
                    <a:lnT w="9525" cmpd="s">
                      <a:solidFill>
                        <a:srgbClr val="CBD5E1"/>
                      </a:solidFill>
                    </a:lnT>
                    <a:lnB w="9525" cmpd="s">
                      <a:solidFill>
                        <a:srgbClr val="CBD5E1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20040"/>
            <a:ext cx="10698480" cy="2194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00" b="1">
                <a:solidFill>
                  <a:srgbClr val="1D4ED8"/>
                </a:solidFill>
                <a:latin typeface="Calibri"/>
              </a:rPr>
              <a:t>CONCLUSION &amp;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2040"/>
                </a:solidFill>
                <a:latin typeface="Calibri"/>
              </a:rPr>
              <a:t>Key Achievements, Future Roadmap &amp; Defense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Summary of engineering achievements and readiness for live demonstration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8988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6327648"/>
            <a:ext cx="10728655" cy="13716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6419088"/>
            <a:ext cx="77724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Calibri"/>
              </a:rPr>
              <a:t>Enterprise Multi-Agent Equity Research  ·  AI Investment Research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0" y="6419088"/>
            <a:ext cx="1828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64748B"/>
                </a:solidFill>
                <a:latin typeface="Calibri"/>
              </a:rPr>
              <a:t>Slide 18 of 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0F2040"/>
                </a:solidFill>
                <a:latin typeface="Calibri"/>
              </a:rPr>
              <a:t>Key Engineering Achievements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Production-Grade Multi-Agent DAG: </a:t>
            </a:r>
            <a:r>
              <a:rPr sz="1100" b="0">
                <a:solidFill>
                  <a:srgbClr val="334155"/>
                </a:solidFill>
                <a:latin typeface="Calibri"/>
              </a:rPr>
              <a:t>Built a stateful Directed Acyclic Graph with LangGraph, replacing fragile prompt chaining with structured agent specialization.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Zero-Hallucination SEC RAG: </a:t>
            </a:r>
            <a:r>
              <a:rPr sz="1100" b="0">
                <a:solidFill>
                  <a:srgbClr val="334155"/>
                </a:solidFill>
                <a:latin typeface="Calibri"/>
              </a:rPr>
              <a:t>ChromaDB vector store grounds financial statements directly in audited 10-K filings, eliminating invented metrics.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Institutional Governance Gate: </a:t>
            </a:r>
            <a:r>
              <a:rPr sz="1100" b="0">
                <a:solidFill>
                  <a:srgbClr val="334155"/>
                </a:solidFill>
                <a:latin typeface="Calibri"/>
              </a:rPr>
              <a:t>Human-in-the-Loop interrupt mechanism prevents unverified publication while preserving full auditability.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Cloud-Native Deployment: </a:t>
            </a:r>
            <a:r>
              <a:rPr sz="1100" b="0">
                <a:solidFill>
                  <a:srgbClr val="334155"/>
                </a:solidFill>
                <a:latin typeface="Calibri"/>
              </a:rPr>
              <a:t>Hermetic Docker Compose packaging deployed on AWS EC2 with automated systemd supervision and S3 archival.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1072" y="1600200"/>
            <a:ext cx="512064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D4ED8"/>
                </a:solidFill>
                <a:latin typeface="Calibri"/>
              </a:rPr>
              <a:t>Future Roadmap &amp; Defense Q&amp;A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Multi-Modal Document Processing: </a:t>
            </a:r>
            <a:r>
              <a:rPr sz="1100" b="0">
                <a:solidFill>
                  <a:srgbClr val="334155"/>
                </a:solidFill>
                <a:latin typeface="Calibri"/>
              </a:rPr>
              <a:t>Integrating vision models to parse embedded charts, footnotes, and non-standard accounting schedules.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Earnings Call Audio Analytics: </a:t>
            </a:r>
            <a:r>
              <a:rPr sz="1100" b="0">
                <a:solidFill>
                  <a:srgbClr val="334155"/>
                </a:solidFill>
                <a:latin typeface="Calibri"/>
              </a:rPr>
              <a:t>Automating real-time speech-to-text and sentiment analysis for quarterly executive earnings conference calls.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Multi-Asset Coverage Expansion: </a:t>
            </a:r>
            <a:r>
              <a:rPr sz="1100" b="0">
                <a:solidFill>
                  <a:srgbClr val="334155"/>
                </a:solidFill>
                <a:latin typeface="Calibri"/>
              </a:rPr>
              <a:t>Extending valuation models beyond US equities to fixed-income securities, ETFs, and global market indices.</a:t>
            </a:r>
          </a:p>
          <a:p>
            <a:pPr>
              <a:lnSpc>
                <a:spcPct val="115000"/>
              </a:lnSpc>
              <a:spcBef>
                <a:spcPts val="700"/>
              </a:spcBef>
            </a:pPr>
            <a:r>
              <a:rPr sz="1100" b="1">
                <a:solidFill>
                  <a:srgbClr val="1D4ED8"/>
                </a:solidFill>
                <a:latin typeface="Calibri"/>
              </a:rPr>
              <a:t>•  </a:t>
            </a:r>
            <a:r>
              <a:rPr sz="1100" b="1">
                <a:solidFill>
                  <a:srgbClr val="0F2040"/>
                </a:solidFill>
                <a:latin typeface="Calibri"/>
              </a:rPr>
              <a:t>Live Demonstration Ready: </a:t>
            </a:r>
            <a:r>
              <a:rPr sz="1100" b="0">
                <a:solidFill>
                  <a:srgbClr val="334155"/>
                </a:solidFill>
                <a:latin typeface="Calibri"/>
              </a:rPr>
              <a:t>The platform is fully operational on AWS and ready for interactive equity analysis evaluation by the committee.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