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Helvetica"/>
              </a:defRPr>
            </a:pPr>
            <a:r>
              <a:t>AUTONOMOUS EQUITY INTELLIGENCE PLATFORM</a:t>
            </a:r>
          </a:p>
          <a:p>
            <a:pPr>
              <a:defRPr sz="125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286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QUANTITATIVE FINANCE DOMAIN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300"/>
              </a:spcBef>
              <a:defRPr sz="15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10728655" cy="50292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Helvetica"/>
              </a:defRPr>
            </a:pPr>
            <a:r>
              <a:t>CORE STACK: LangGraph Stateful DAG  •  ChromaDB Vector RAG  •  Gemini 2.5 Flash  •  Streamlit UI  •  AWS Cloud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434840"/>
          <a:ext cx="107286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31241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UI, Chatbot &amp; HITL Integration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EXECUTIVE SUMMARY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Autonomous Equity Intelligence Platform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fragmented, multi-day institutional equity research into a real-time, governed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The Industry Problem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Manual Research Bottleneck: </a:t>
            </a:r>
            <a:r>
              <a:rPr b="0" sz="1000">
                <a:solidFill>
                  <a:srgbClr val="F8FAFC"/>
                </a:solidFill>
                <a:latin typeface="Arial"/>
              </a:rPr>
              <a:t>Equity analysts spend 8 to 15 hours per company manually compiling SEC 10-Ks, live market telemetry, and peer valuations.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Information Asymmetry: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Disparate data sources create friction between fundamental accounting metrics and real-time macroeconomic sentiment.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Single-Prompt LLM Fragility: </a:t>
            </a:r>
            <a:r>
              <a:rPr b="0" sz="1000">
                <a:solidFill>
                  <a:srgbClr val="F8FAFC"/>
                </a:solidFill>
                <a:latin typeface="Arial"/>
              </a:rPr>
              <a:t>Standard generative models hallucinate audited numbers and lack deterministic math and compliance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The Autonomous Solution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Specialized Multi-Agent DAG: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orchestrates purpose-built autonomous agents rather than relying on one monolithic prompt.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Parallel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agent fan-out cuts research completion latency by over 45% compared to sequential processing.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Grounded Vector RAG: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vector store retrieves verified corporate disclosures directly from official SEC EDGAR 10-K filings.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Institutional Governance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Mandatory Human Review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No investment memorandum is certified without explicit human analyst sign-off via interactive interrupt.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Quantitative Valuation: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Integrates 252-day annualized price volatility and rolling drawdown calculations with LLM qualitative synthesis.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 Cloud Architecture: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containerized Docker architecture deployed on AWS EC2 with durable S3 document storage.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End-to-End Multi-Agent Workflow Blueprint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flow from unstructured filing ingestion to certified investment 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Workflow Pipeline Stages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1. Input &amp; Ticker Routing: </a:t>
            </a:r>
            <a:r>
              <a:rPr b="0" sz="1000">
                <a:solidFill>
                  <a:srgbClr val="F8FAFC"/>
                </a:solidFill>
                <a:latin typeface="Arial"/>
              </a:rPr>
              <a:t>User queries a NASDAQ equity; Router validates ticker and dynamically assigns sector benchmark.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2. Parallel Agent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Agent and Trend Analysis Agent run simultaneously to analyze filings and market news.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3. Comparative Valuation: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Gathers live valuation multiples (P/E, EV/EBITDA, PEG) across target and peer group companies.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4. CIO Summary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fundamentals, sentiment, and quantitative risk metrics into a structured 12-month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5. Human Governance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Suspends execution graph; analyst inspects findings, edits thesis, and certifies final publication.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Key Architectural Pillars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Orchestration Engine: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Stateful DAG with persistent thread checkpointer and custom state reducers.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Inference &amp; Embedding: </a:t>
            </a:r>
            <a:r>
              <a:rPr b="0" sz="1000">
                <a:solidFill>
                  <a:srgbClr val="F8FAFC"/>
                </a:solidFill>
                <a:latin typeface="Arial"/>
              </a:rPr>
              <a:t>Google Gemini 2.5 Flash for high-speed reasoning and text-embedding-004 for dense semantic indexing.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Vector Knowledge Store: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with strict metadata isolation preventing cross-stock document contamination.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Analyst Dashboard: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3-tab interface featuring real-time node streaming, chart telemetry, and one-click PDF export.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Cloud Infrastructure: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EC2 compute instance with automated memory swapfile management and S3 document archiving.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MULTI-AGENT DESIGN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Stateful Graph Orchestration vs Conversational Loops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institutional financial workflows require deterministic stateful DAGs over loose chatbot loops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LangGraph Stateful DAG (Our Approach)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Deterministic State Transitions: </a:t>
            </a:r>
            <a:r>
              <a:rPr b="0" sz="1000">
                <a:solidFill>
                  <a:srgbClr val="F8FAFC"/>
                </a:solidFill>
                <a:latin typeface="Arial"/>
              </a:rPr>
              <a:t>Strictly defines execution paths (Router -&gt; Parallel Analysis -&gt; Fan-In -&gt; Summary -&gt; Review Gate).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 Infinite Loop Risk: </a:t>
            </a:r>
            <a:r>
              <a:rPr b="0" sz="1000">
                <a:solidFill>
                  <a:srgbClr val="F8FAFC"/>
                </a:solidFill>
                <a:latin typeface="Arial"/>
              </a:rPr>
              <a:t>Eliminates unbounded agent chat recursion, guaranteeing completion within deterministic SLAs.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Explicit Reducer Merges: </a:t>
            </a:r>
            <a:r>
              <a:rPr b="0" sz="1000">
                <a:solidFill>
                  <a:srgbClr val="F8FAFC"/>
                </a:solidFill>
                <a:latin typeface="Arial"/>
              </a:rPr>
              <a:t>Custom state reducers safely combine concurrent outputs from parallel nodes without data collisions.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Deep Checkpointing: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checkpoints state at every transition, enabling clean resume after human interruption.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 Compliance: </a:t>
            </a:r>
            <a:r>
              <a:rPr b="0" sz="1000">
                <a:solidFill>
                  <a:srgbClr val="F8FAFC"/>
                </a:solidFill>
                <a:latin typeface="Arial"/>
              </a:rPr>
              <a:t>Every intermediate state payload is serialized and reproducible for regulatory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Standard Conversational Loops (Rejected)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Unpredictable Execution Paths: </a:t>
            </a:r>
            <a:r>
              <a:rPr b="0" sz="1000">
                <a:solidFill>
                  <a:srgbClr val="F8FAFC"/>
                </a:solidFill>
                <a:latin typeface="Arial"/>
              </a:rPr>
              <a:t>Free-form agent chat loops often drift off-topic and hallucinate non-existent tasks.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Context Token Bloat: </a:t>
            </a:r>
            <a:r>
              <a:rPr b="0" sz="1000">
                <a:solidFill>
                  <a:srgbClr val="F8FAFC"/>
                </a:solidFill>
                <a:latin typeface="Arial"/>
              </a:rPr>
              <a:t>Chat histories accumulate redundant messages, inflating token usage and slowing inference.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Fragile Concurrency: </a:t>
            </a:r>
            <a:r>
              <a:rPr b="0" sz="1000">
                <a:solidFill>
                  <a:srgbClr val="F8FAFC"/>
                </a:solidFill>
                <a:latin typeface="Arial"/>
              </a:rPr>
              <a:t>Conversational architectures struggle to coordinate parallel subtasks or merge concurrent findings.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State Recovery Failure: </a:t>
            </a:r>
            <a:r>
              <a:rPr b="0" sz="1000">
                <a:solidFill>
                  <a:srgbClr val="F8FAFC"/>
                </a:solidFill>
                <a:latin typeface="Arial"/>
              </a:rPr>
              <a:t>Browser refreshes or network hiccups wipe active agent conversations, requiring complete reruns.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Difficult Validation: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Unstructured chat outputs make strict Pydantic schema validation challenging to enforce.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Parallel Agent Fan-Out &amp; State Reducer Engineering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Maximizing analysis throughput while preserving thread safety and state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Parallel Fan-Out Performance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Independent Workstreams: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(10-K balance sheet data) and Trend Analysis (macro news sentiment) are decoupled.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Concurrent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Both agents execute simultaneously immediately following the initial ticker routing step.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45% Latency Reduction: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Wall-clock run time drops from ~24 seconds to ~13 seconds per full equity analysis run.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Isolated Context Windows: </a:t>
            </a:r>
            <a:r>
              <a:rPr b="0" sz="1000">
                <a:solidFill>
                  <a:srgbClr val="F8FAFC"/>
                </a:solidFill>
                <a:latin typeface="Arial"/>
              </a:rPr>
              <a:t>Each agent focuses purely on its assigned domain, preventing prompt token interference.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Independent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A temporary delay in news fetching does not block accounting analysis from completing.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Custom Reducer Architecture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The Merge Conflict Challenge: </a:t>
            </a:r>
            <a:r>
              <a:rPr b="0" sz="1000">
                <a:solidFill>
                  <a:srgbClr val="F8FAFC"/>
                </a:solidFill>
                <a:latin typeface="Arial"/>
              </a:rPr>
              <a:t>Standard graph state channels fail when concurrent nodes write simultaneous updates.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Custom State Reducers: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custom channel reducers in app/core/state.py using Annotated[T, _keep_latest].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Deterministic Serialization: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Guarantees clean dictionary merges without data loss or race condition overwrites.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Seamless Fan-In: </a:t>
            </a:r>
            <a:r>
              <a:rPr b="0" sz="1000">
                <a:solidFill>
                  <a:srgbClr val="F8FAFC"/>
                </a:solidFill>
                <a:latin typeface="Arial"/>
              </a:rPr>
              <a:t>Comparative Valuation smoothly consumes consolidated outputs from both parallel branches.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Pydantic Integrity: </a:t>
            </a:r>
            <a:r>
              <a:rPr b="0" sz="1000">
                <a:solidFill>
                  <a:srgbClr val="F8FAFC"/>
                </a:solidFill>
                <a:latin typeface="Arial"/>
              </a:rPr>
              <a:t>All merged payloads are validated against strict data schemas before reaching the summary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Specialized Agent Nodes &amp; Core Responsibilities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Purpose-built agents executing distinct financial research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1. Router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Dynamic Ticker Verification: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Validates company symbol against 270-stock catalog.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Peer Benchmark Assignment: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Automatically maps target to peer leaders (e.g., AAPL -&gt; MSFT).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Ganesh Swami &amp; Nilanjan 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2. Market Research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10-K Balance Sheet Extraction: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Queries ChromaDB for revenue, net income, and operating margins.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Audited Data Verification: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Extracts verbatim financial table figures without estimation.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 &amp; Sagar Trimukhe.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3. Trend &amp; Sentiment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Macroeconomic Catalyst Scoring: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Analyzes live industry news, regulatory actions, and macro trends.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Sentiment Polarization: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normalized sentiment index from -1.0 (bearish) to +1.0 (bullish).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 &amp; Sagar Trimukhe.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Comparative Valuation Agent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Market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Pulls real-time P/E, Forward P/E, EV/EBITDA, and PEG ratios via yfinance.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Dual-Strategy Fallback: </a:t>
            </a:r>
            <a:r>
              <a:rPr b="0" sz="1000">
                <a:solidFill>
                  <a:srgbClr val="F8FAFC"/>
                </a:solidFill>
                <a:latin typeface="Arial"/>
              </a:rPr>
              <a:t>Tool calling first, with immediate direct-API fallback on timeout.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Nikhil Gaikwad &amp; Shradha Gaikwad.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SYNTHESIS &amp; VALUATION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Chief Investment Officer (CIO) Summary Agent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Synthesizing qualitative findings, quantitative models, and actionable investment theses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Investment Thesis Synthesis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Holistic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 accounting, macroeconomic catalysts, and peer multiples into an institutional report.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Actionable Recommendation: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Delivers unambiguous BUY, HOLD, or SELL ratings with a definitive 12-month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Investment Thesis Narrative: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a structured bull/bear case highlighting competitive moats and primary risk factors.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Regex Sanitization: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Passes all model outputs through regex cleaners to ensure strict numeric price casting.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Module Ownership: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by Shradha Gaikwad with backend state integration by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Quantitative Risk Integration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Annualized Historical Volatility: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Calculates 1-year stock return dispersion scaled over 252 annual trading sessions.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Maximum Drawdown Assessment: </a:t>
            </a:r>
            <a:r>
              <a:rPr b="0" sz="1000">
                <a:solidFill>
                  <a:srgbClr val="F8FAFC"/>
                </a:solidFill>
                <a:latin typeface="Arial"/>
              </a:rPr>
              <a:t>Computes historical peak-to-trough price decline to evaluate downside tail risk.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Valuation Spread Analysis: </a:t>
            </a:r>
            <a:r>
              <a:rPr b="0" sz="1000">
                <a:solidFill>
                  <a:srgbClr val="F8FAFC"/>
                </a:solidFill>
                <a:latin typeface="Arial"/>
              </a:rPr>
              <a:t>Assesses valuation expansion or contraction relative to sector benchmark peers.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Risk Tier Categorization: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Automatically flags equities as Low (&lt;20%), Moderate (20-35%), or High (&gt;35%) volatility.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Zero-Failure Tolerance: </a:t>
            </a:r>
            <a:r>
              <a:rPr b="0" sz="1000">
                <a:solidFill>
                  <a:srgbClr val="F8FAFC"/>
                </a:solidFill>
                <a:latin typeface="Arial"/>
              </a:rPr>
              <a:t>Gracefully handles zero-variance days, market holidays, or missing data 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INSTITUTIONAL GOVERNANCE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Mandatory regulatory compliance checkpoint preventing unverified automated dissemination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The Governance Workflow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Automated Graph Interruption: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Calls langgraph.types.interrupt(), halting graph execution before final publishing.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Thread State Serialization: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serializes complete state to disk under a unique session thread ID.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Interactive Analyst Workspace: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dashboard in Tab 3 populates with draft ratings, risk scores, and full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Full Editorial Control: </a:t>
            </a:r>
            <a:r>
              <a:rPr b="0" sz="1000">
                <a:solidFill>
                  <a:srgbClr val="F8FAFC"/>
                </a:solidFill>
                <a:latin typeface="Arial"/>
              </a:rPr>
              <a:t>Human reviewer can inspect evidence, edit the recommendation, and modify the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Certification Audit Trail: </a:t>
            </a:r>
            <a:r>
              <a:rPr b="0" sz="1000">
                <a:solidFill>
                  <a:srgbClr val="F8FAFC"/>
                </a:solidFill>
                <a:latin typeface="Arial"/>
              </a:rPr>
              <a:t>Captures certifying analyst credentials, timestamp, and review status before publishing.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Technical Architecture &amp;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Streamlit Context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reruns wipe in-memory state; solved by binding checkpointer to persistent thread ID.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Clean Graph Resumption: </a:t>
            </a:r>
            <a:r>
              <a:rPr b="0" sz="1000">
                <a:solidFill>
                  <a:srgbClr val="F8FAFC"/>
                </a:solidFill>
                <a:latin typeface="Arial"/>
              </a:rPr>
              <a:t>Resumes execution via Command(resume=review_payload) preserving all intermediate data.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Compliance Safeguard: </a:t>
            </a:r>
            <a:r>
              <a:rPr b="0" sz="1000">
                <a:solidFill>
                  <a:srgbClr val="F8FAFC"/>
                </a:solidFill>
                <a:latin typeface="Arial"/>
              </a:rPr>
              <a:t>Eliminates regulatory risks associated with unverified automated AI recommendations.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Cloud &amp; Local Export: </a:t>
            </a:r>
            <a:r>
              <a:rPr b="0" sz="1000">
                <a:solidFill>
                  <a:srgbClr val="F8FAFC"/>
                </a:solidFill>
                <a:latin typeface="Arial"/>
              </a:rPr>
              <a:t>Generates timestamped Markdown/PDF files and optionally archives artifacts to AWS S3.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by Sagar Trimukhe (UI/State) and Ganesh Swami (LangGraph Interrupt).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generative reasoning in verified institutional risk and valuation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Annualized Historical Volatility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Institutional Annualization Standard: </a:t>
            </a:r>
            <a:r>
              <a:rPr b="0" sz="1000">
                <a:solidFill>
                  <a:srgbClr val="F8FAFC"/>
                </a:solidFill>
                <a:latin typeface="Arial"/>
              </a:rPr>
              <a:t>Measures daily stock price movements scaled across 252 active annual market trading sessions.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Calendar Date Correction: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Calculates returns strictly over active trading days, preventing weekend and holiday skew.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Objective Risk Profiling: </a:t>
            </a:r>
            <a:r>
              <a:rPr b="0" sz="1000">
                <a:solidFill>
                  <a:srgbClr val="F8FAFC"/>
                </a:solidFill>
                <a:latin typeface="Arial"/>
              </a:rPr>
              <a:t>Establishes quantitative volatility benchmarks for portfolio managers prior to capital allocation.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Empirical Validation: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Calculated Apple (AAPL) 1-year historical volatility at 19.4%, matching institutional Bloomberg ranges.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Guards: </a:t>
            </a:r>
            <a:r>
              <a:rPr b="0" sz="1000">
                <a:solidFill>
                  <a:srgbClr val="F8FAFC"/>
                </a:solidFill>
                <a:latin typeface="Arial"/>
              </a:rPr>
              <a:t>Handles zero trading days, zero division, and missing price series without crashing graph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Maximum Drawdown &amp; Peer Multiples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Peak-to-Trough Drawdown Assessment: </a:t>
            </a:r>
            <a:r>
              <a:rPr b="0" sz="1000">
                <a:solidFill>
                  <a:srgbClr val="F8FAFC"/>
                </a:solidFill>
                <a:latin typeface="Arial"/>
              </a:rPr>
              <a:t>Tracks the largest historical percentage drop from a peak before a new high is formed.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Downside Tail Risk Measurement: </a:t>
            </a:r>
            <a:r>
              <a:rPr b="0" sz="1000">
                <a:solidFill>
                  <a:srgbClr val="F8FAFC"/>
                </a:solidFill>
                <a:latin typeface="Arial"/>
              </a:rPr>
              <a:t>Provides portfolio committees with worst-case historical capital loss scenarios.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Relative Multiples Differentials: </a:t>
            </a:r>
            <a:r>
              <a:rPr b="0" sz="1000">
                <a:solidFill>
                  <a:srgbClr val="F8FAFC"/>
                </a:solidFill>
                <a:latin typeface="Arial"/>
              </a:rPr>
              <a:t>Evaluates valuation spreads across Trailing P/E, Forward P/E, EV/EBITDA, and PEG ratios.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Target Price Synthesis: </a:t>
            </a:r>
            <a:r>
              <a:rPr b="0" sz="1000">
                <a:solidFill>
                  <a:srgbClr val="F8FAFC"/>
                </a:solidFill>
                <a:latin typeface="Arial"/>
              </a:rPr>
              <a:t>Blends fundamental earnings power, peer expansion, and macro sentiment into a 12-month target.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Governance Handover: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Streams quantitative indicators directly to the Tab 3 human certification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DATA ENGINEERING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SEC EDGAR Filings &amp; Dense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Precision financial document ingestion eliminating hallucinations via audited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1. Document Acquisition &amp; Chunking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Official SEC EDGAR Acquisition: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Direct pipeline pulling official 10-K filings with accession number validation.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Foreign Issuer Discovery Hierarchy: </a:t>
            </a:r>
            <a:r>
              <a:rPr b="0" sz="1000">
                <a:solidFill>
                  <a:srgbClr val="F8FAFC"/>
                </a:solidFill>
                <a:latin typeface="Arial"/>
              </a:rPr>
              <a:t>Intelligent fallback checking Form 10-K -&gt; Form 10-K/A -&gt; Form 20-F (ASML, ARM).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Table-Preserving Chunking: </a:t>
            </a:r>
            <a:r>
              <a:rPr b="0" sz="1000">
                <a:solidFill>
                  <a:srgbClr val="F8FAFC"/>
                </a:solidFill>
                <a:latin typeface="Arial"/>
              </a:rPr>
              <a:t>Recursive text splitting (1,500 chars / 150 overlap) protecting financial table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2. Dense Vector Embeddings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Gemini text-embedding-004: </a:t>
            </a:r>
            <a:r>
              <a:rPr b="0" sz="1000">
                <a:solidFill>
                  <a:srgbClr val="F8FAFC"/>
                </a:solidFill>
                <a:latin typeface="Arial"/>
              </a:rPr>
              <a:t>High-performance 3,072-dimensional embeddings capturing financial semantic relationships.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Strict Metadata Tagging: </a:t>
            </a:r>
            <a:r>
              <a:rPr b="0" sz="1000">
                <a:solidFill>
                  <a:srgbClr val="F8FAFC"/>
                </a:solidFill>
                <a:latin typeface="Arial"/>
              </a:rPr>
              <a:t>Every vector tagged with ticker symbol, filing year, form type, and accession number.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Dimensional Normalization: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Cosine similarity optimization for institutional accounting terminology.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3. Vector Database &amp; Isolation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ChromaDB Persistent Storage: </a:t>
            </a:r>
            <a:r>
              <a:rPr b="0" sz="1000">
                <a:solidFill>
                  <a:srgbClr val="F8FAFC"/>
                </a:solidFill>
                <a:latin typeface="Arial"/>
              </a:rPr>
              <a:t>Local and cloud-deployable vector database with persistent disk backing.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Hard Metadata Filtering: </a:t>
            </a:r>
            <a:r>
              <a:rPr b="0" sz="1000">
                <a:solidFill>
                  <a:srgbClr val="F8FAFC"/>
                </a:solidFill>
                <a:latin typeface="Arial"/>
              </a:rPr>
              <a:t>Queries execute with mandatory filter={'ticker': target}, preventing cross-company contamination.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Sub-50ms Query Latency: </a:t>
            </a:r>
            <a:r>
              <a:rPr b="0" sz="1000">
                <a:solidFill>
                  <a:srgbClr val="F8FAFC"/>
                </a:solidFill>
                <a:latin typeface="Arial"/>
              </a:rPr>
              <a:t>Fast local vector lookup ensuring responsive multi-agent research 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Factual Verification &amp; Guardrails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Verbatim Context Grounding: </a:t>
            </a:r>
            <a:r>
              <a:rPr b="0" sz="1000">
                <a:solidFill>
                  <a:srgbClr val="F8FAFC"/>
                </a:solidFill>
                <a:latin typeface="Arial"/>
              </a:rPr>
              <a:t>Prompts require LLMs to quote exact balance sheet figures without estimation.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Empty-Index Graceful Warning: </a:t>
            </a:r>
            <a:r>
              <a:rPr b="0" sz="1000">
                <a:solidFill>
                  <a:srgbClr val="F8FAFC"/>
                </a:solidFill>
                <a:latin typeface="Arial"/>
              </a:rPr>
              <a:t>Alerts analyst if no 10-K is indexed rather than hallucinating financial data.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Architected by Nilanjan Das with pipeline integration by Ganesh Swami.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Framework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Evaluating core technologies against industry alternatives for production reliability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419295"/>
              </a:tblGrid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Domain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Framework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Architectural Decision Rationale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Orchestration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CrewAI / AutoGen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topology, native interrupt() for HITL, and thread checkpointer.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 Engine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GPT-4o / Claude 3.5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 response times, generous context window, and sub-$0.003 cost per research run.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Knowledge Base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persistence, zero external cloud dependency, and strict metadata isolation.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FastAPI + React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analyst UI prototyping, built-in session state, and native progress streaming.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 Hosting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EC2 (t3.medium)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/ Fargate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Predictable compute costs, persistent local ChromaDB disk cache, and systemd stability.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Object Storage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S3 (boto3)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Local Disk Only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Durable document archiving for SEC 10-K filings and certified research reports.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AWS Cloud Hosting &amp; Automated Infrastructure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Production cloud infrastructure designed for reliability, automated provisioning, and low operating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AWS EC2 Compute &amp; Automation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Compute Instance: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EC2 t3.medium (2 vCPUs, 4 GiB RAM, 20 GB gp3 SSD) on Ubuntu 22.04 LTS.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Automated Provisioning: </a:t>
            </a:r>
            <a:r>
              <a:rPr b="0" sz="1000">
                <a:solidFill>
                  <a:srgbClr val="F8FAFC"/>
                </a:solidFill>
                <a:latin typeface="Arial"/>
              </a:rPr>
              <a:t>Authored setup_ec2.sh script installing Docker, Compose, and Python dependencies.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2 GB Linux Swapfile: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swap allocation preventing out-of-memory crashes during dense vector indexing.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Systemd Service Management: </a:t>
            </a:r>
            <a:r>
              <a:rPr b="0" sz="1000">
                <a:solidFill>
                  <a:srgbClr val="F8FAFC"/>
                </a:solidFill>
                <a:latin typeface="Arial"/>
              </a:rPr>
              <a:t>Configured ai-research-assistant.service for automatic container restart on instance boot.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Engineer: </a:t>
            </a:r>
            <a:r>
              <a:rPr b="0" sz="1000">
                <a:solidFill>
                  <a:srgbClr val="F8FAFC"/>
                </a:solidFill>
                <a:latin typeface="Arial"/>
              </a:rPr>
              <a:t>Architected and scripted by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AWS S3 Storage &amp; Fallback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Cloud Document Storage: </a:t>
            </a:r>
            <a:r>
              <a:rPr b="0" sz="1000">
                <a:solidFill>
                  <a:srgbClr val="F8FAFC"/>
                </a:solidFill>
                <a:latin typeface="Arial"/>
              </a:rPr>
              <a:t>AWS S3 bucket securely storing raw SEC 10-K filings and certified memorandums.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Graceful Local Fallback: </a:t>
            </a:r>
            <a:r>
              <a:rPr b="0" sz="1000">
                <a:solidFill>
                  <a:srgbClr val="F8FAFC"/>
                </a:solidFill>
                <a:latin typeface="Arial"/>
              </a:rPr>
              <a:t>Defensive s3_client.py checks is_available(); degrades to local filesystem if offline.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Zero-Crash Guarantee: </a:t>
            </a:r>
            <a:r>
              <a:rPr b="0" sz="1000">
                <a:solidFill>
                  <a:srgbClr val="F8FAFC"/>
                </a:solidFill>
                <a:latin typeface="Arial"/>
              </a:rPr>
              <a:t>Application functions seamlessly even when running offline or without cloud credentials.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One-Click Archiving: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dashboard offers one-click push of certified reports directly to S3.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(Storage Integration) &amp; Ganesh Swami (Client Wrapper).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ANALYST EXPERIENCE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Interactive 3-Tab Streamlit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Intuitive institutional interface designed for speed, clarity, and comprehensive analyst oversight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Tab 1: Equity Research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Target &amp; Peer Selector: </a:t>
            </a:r>
            <a:r>
              <a:rPr b="0" sz="1000">
                <a:solidFill>
                  <a:srgbClr val="F8FAFC"/>
                </a:solidFill>
                <a:latin typeface="Arial"/>
              </a:rPr>
              <a:t>Dropdown selection across 270 NASDAQ companies.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Agent Visualizer: </a:t>
            </a:r>
            <a:r>
              <a:rPr b="0" sz="1000">
                <a:solidFill>
                  <a:srgbClr val="F8FAFC"/>
                </a:solidFill>
                <a:latin typeface="Arial"/>
              </a:rPr>
              <a:t>Real-time streaming status of active graph nodes.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Financial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Interactive 1-year historical stock price charts.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Risk Badge Metrics: </a:t>
            </a:r>
            <a:r>
              <a:rPr b="0" sz="1000">
                <a:solidFill>
                  <a:srgbClr val="F8FAFC"/>
                </a:solidFill>
                <a:latin typeface="Arial"/>
              </a:rPr>
              <a:t>Live display of volatility and maximum drawdown.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Tab 2: Document Ingestion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Drag-and-Drop Ingestion: </a:t>
            </a:r>
            <a:r>
              <a:rPr b="0" sz="1000">
                <a:solidFill>
                  <a:srgbClr val="F8FAFC"/>
                </a:solidFill>
                <a:latin typeface="Arial"/>
              </a:rPr>
              <a:t>Upload PDF and TXT 10-K annual reports.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Quick Filing Selector: </a:t>
            </a:r>
            <a:r>
              <a:rPr b="0" sz="1000">
                <a:solidFill>
                  <a:srgbClr val="F8FAFC"/>
                </a:solidFill>
                <a:latin typeface="Arial"/>
              </a:rPr>
              <a:t>One-click ingestion of pre-loaded NASDAQ filings.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Vector Database Telemetry: </a:t>
            </a:r>
            <a:r>
              <a:rPr b="0" sz="1000">
                <a:solidFill>
                  <a:srgbClr val="F8FAFC"/>
                </a:solidFill>
                <a:latin typeface="Arial"/>
              </a:rPr>
              <a:t>Real-time ChromaDB collection counts and metrics.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Automatic Deduplication: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Detects existing embeddings to prevent redundant writes.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2900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28800"/>
            <a:ext cx="299008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Tab 3: HITL Review &amp; Export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Compliance Review Gate: </a:t>
            </a:r>
            <a:r>
              <a:rPr b="0" sz="1000">
                <a:solidFill>
                  <a:srgbClr val="F8FAFC"/>
                </a:solidFill>
                <a:latin typeface="Arial"/>
              </a:rPr>
              <a:t>Interactively inspects draft investment thesis.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Analyst Recommendation Override: </a:t>
            </a:r>
            <a:r>
              <a:rPr b="0" sz="1000">
                <a:solidFill>
                  <a:srgbClr val="F8FAFC"/>
                </a:solidFill>
                <a:latin typeface="Arial"/>
              </a:rPr>
              <a:t>Modify BUY/HOLD/SELL rating and target price.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Official Certification Form: </a:t>
            </a:r>
            <a:r>
              <a:rPr b="0" sz="1000">
                <a:solidFill>
                  <a:srgbClr val="F8FAFC"/>
                </a:solidFill>
                <a:latin typeface="Arial"/>
              </a:rPr>
              <a:t>Captures analyst ID and notes for compliance audit.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Export &amp; Cloud Archival: </a:t>
            </a:r>
            <a:r>
              <a:rPr b="0" sz="1000">
                <a:solidFill>
                  <a:srgbClr val="F8FAFC"/>
                </a:solidFill>
                <a:latin typeface="Arial"/>
              </a:rPr>
              <a:t>One-click download to Markdown and direct AWS S3 push.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BENCHMARKING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System Performance &amp; Verification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Quantitative validation of speedup, accuracy, cost reduction, and test suite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45% Speedup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Parallel Fan-Out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  <a:latin typeface="Helvetica"/>
              </a:defRPr>
            </a:pPr>
            <a:r>
              <a:t>&lt; $0.003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Cost per Full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Helvetica"/>
              </a:defRPr>
            </a:pPr>
            <a:r>
              <a:t>19.4%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AAPL Volatility 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99055" cy="11887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Test Suite Pass Rate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063240"/>
          <a:ext cx="10728655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3870655"/>
              </a:tblGrid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Observed System Metric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Industry Baseline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Performance Outcome &amp; Impact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Analysis Latency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13.2 seconds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24.5 seconds (sequential)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45.7% latency reduction via parallel agent execution.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Token Efficiency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4,200 tokens/run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14,500 tokens (chat loop)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71% token reduction through isolated agent contexts.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Operational Cost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$0.0028 USD / run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$0.08+ (GPT-4o)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96.5% cost reduction utilizing Gemini Flash inference.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Volatility Accuracy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19.4% (AAPL 1-yr)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18.5% - 20.0% (Bloomberg)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Institutional parity on 252 trading day volatility calculation.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SYSTEM RELIABILITY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Defensive Architecture &amp; Resilience Mechanisms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Multi-layered safeguards ensuring zero-crash execution across external APIs and model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API &amp; Model Error Safeguards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Dual-Strategy Tool Execution: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Attempts tool calling first, immediately falling back to direct deterministic API on latency or error.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Free-Tier Rate Limit Resilience: </a:t>
            </a:r>
            <a:r>
              <a:rPr b="0" sz="1000">
                <a:solidFill>
                  <a:srgbClr val="F8FAFC"/>
                </a:solidFill>
                <a:latin typeface="Arial"/>
              </a:rPr>
              <a:t>Built regex backoff capturing retry delays from Gemini 429 errors (100 RPM recovery).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Defensive Regex Float Sanitization: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Cleans strings like '$245.50' or ranges into strict floats, preventing casting crashes.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SEC EDGAR Throttling: </a:t>
            </a:r>
            <a:r>
              <a:rPr b="0" sz="1000">
                <a:solidFill>
                  <a:srgbClr val="F8FAFC"/>
                </a:solidFill>
                <a:latin typeface="Arial"/>
              </a:rPr>
              <a:t>Respects SEC fair-use headers (&lt;5 req/sec) and handles transparent Gzip binary decompression.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Nikhil Gaikwad (Tool Fallbacks) &amp; Shradha Gaikwad (Float Sanitizers).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Data Integrity &amp; Cloud Resilience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Timezone Offset Localization: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Strips DatetimeIndex timezone offsets via .tz_localize(None) to prevent PyArrow chart errors.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Empty-Index Graceful Warning: </a:t>
            </a:r>
            <a:r>
              <a:rPr b="0" sz="1000">
                <a:solidFill>
                  <a:srgbClr val="F8FAFC"/>
                </a:solidFill>
                <a:latin typeface="Arial"/>
              </a:rPr>
              <a:t>Displays clear guidance when querying un-indexed tickers without hallucinating accounting figures.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Foreign Issuer SEC Discovery: </a:t>
            </a:r>
            <a:r>
              <a:rPr b="0" sz="1000">
                <a:solidFill>
                  <a:srgbClr val="F8FAFC"/>
                </a:solidFill>
                <a:latin typeface="Arial"/>
              </a:rPr>
              <a:t>Checks Form 10-K -&gt; 10-K/A -&gt; 20-F for international listings (ASML, ARM).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Offline Cloud Degradation: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Automatic local fallback if AWS credentials are absent, ensuring full offline functionality.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Lead Engineers: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 (SEC Ingestion) &amp; Ganesh Swami (Cloud Resilience).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ENGINEERING CHALLENGES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Authentic Engineering Roadblocks &amp; Solutions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Key technical challenges encountered during iterative development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F59E0B"/>
                </a:solidFill>
                <a:latin typeface="Helvetica"/>
              </a:defRPr>
            </a:pPr>
            <a:r>
              <a:t>1. Streamlit Reactive State Loss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re-executes top-to-bottom on every user click, wiping in-memory LangGraph thread states during HITL review.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Bound MemorySaver checkpointer to a persistent session thread ID in st.session_state, resuming via Command(resume=payload).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F59E0B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&amp; Ganesh Swami.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2. Parallel State Merge Collision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fan-out child nodes returning simultaneous updates triggered InvalidUpdateError in LangGraph.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custom channel merge reducers in app/core/state.py using Annotated[T, _keep_latest].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Ganesh Swami.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3. SEC EDGAR HTTP 403 &amp; Gzip Streams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SEC EDGAR servers blocked automated requests with HTTP 403 and returned compressed Gzip binary streams.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Declared research User-Agent headers, added &lt;5 req/sec throttling, and implemented magic-byte gzip decoding.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Nilanjan 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120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97680"/>
            <a:ext cx="4773168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4. LLM Float Casting &amp; Schema Integrity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Roadblock: </a:t>
            </a:r>
            <a:r>
              <a:rPr b="0" sz="1000">
                <a:solidFill>
                  <a:srgbClr val="F8FAFC"/>
                </a:solidFill>
                <a:latin typeface="Arial"/>
              </a:rPr>
              <a:t>LLMs returned string-formatted prices ('$245.50' or '$240-$260'), crashing Python float() casting in risk modeling.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Resolution: </a:t>
            </a:r>
            <a:r>
              <a:rPr b="0" sz="1000">
                <a:solidFill>
                  <a:srgbClr val="F8FAFC"/>
                </a:solidFill>
                <a:latin typeface="Arial"/>
              </a:rPr>
              <a:t>Engineered defensive regex sanitizer (_clean_target_price) in summary_agent.py to strip symbols and enforce float schemas.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Resolved By: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 CONTRIBUTIONS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Individual Engineering Module Attribution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 distribution of technical leadership and core architectural deliverables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27855"/>
                <a:gridCol w="210312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Engineering Deliverables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Code Modules</a:t>
                      </a:r>
                    </a:p>
                  </a:txBody>
                  <a:tcPr marL="128016" marR="128016" marT="82296" marB="82296">
                    <a:solidFill>
                      <a:srgbClr val="0f172a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 &amp; Cloud DevOps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Stateful DAG, custom channel reducers, HITL interrupt gate, AWS EC2 setup script, and S3 client.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state.py, hitl_review.py</a:t>
                      </a:r>
                      <a:br/>
                      <a:r>
                        <a:t>setup_ec2.sh, s3_client.py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Modeling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Summary Agent thesis synthesis, 252-day volatility modeling, and Pydantic schemas.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financial.py, report.py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 &amp; HITL Integration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3-Tab Streamlit dashboard, Docker containerization, Trend Analysis co-development, and AWS S3 storage archiving.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app/main.py,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 &amp; SEC Ingestion Lead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universe, SEC EDGAR 10-K ingestion, ChromaDB vector store, and Trend &amp; Sentiment Agent co-lead.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28016" marR="128016" marT="82296" marB="82296">
                    <a:solidFill>
                      <a:srgbClr val="0f1728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 &amp; QA Lead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live market telemetry, rate-limit backoff engine, and automated QA test suite.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financial_tools.py, rag_eval.py</a:t>
                      </a:r>
                    </a:p>
                  </a:txBody>
                  <a:tcPr marL="128016" marR="128016" marT="82296" marB="82296">
                    <a:solidFill>
                      <a:srgbClr val="131d31"/>
                    </a:solidFill>
                    <a:lnL w="12700" cmpd="s">
                      <a:solidFill>
                        <a:srgbClr val="263852"/>
                      </a:solidFill>
                    </a:lnL>
                    <a:lnR w="12700" cmpd="s">
                      <a:solidFill>
                        <a:srgbClr val="263852"/>
                      </a:solidFill>
                    </a:lnR>
                    <a:lnT w="12700" cmpd="s">
                      <a:solidFill>
                        <a:srgbClr val="263852"/>
                      </a:solidFill>
                    </a:lnT>
                    <a:lnB w="12700" cmpd="s">
                      <a:solidFill>
                        <a:srgbClr val="26385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CONCLUSION</a:t>
            </a:r>
          </a:p>
          <a:p>
            <a:pPr>
              <a:spcBef>
                <a:spcPts val="300"/>
              </a:spcBef>
              <a:defRPr sz="2200" b="1">
                <a:solidFill>
                  <a:srgbClr val="F8FAFC"/>
                </a:solidFill>
                <a:latin typeface="Helvetica"/>
              </a:defRPr>
            </a:pPr>
            <a:r>
              <a:t>Project Summary, Future Scope &amp; Defense Q&amp;A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Summary of accomplishments, production roadmap, and readiness for defense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10B981"/>
                </a:solidFill>
                <a:latin typeface="Helvetica"/>
              </a:defRPr>
            </a:pPr>
            <a:r>
              <a:t>Key Project Achievements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 Autonomous AI: </a:t>
            </a:r>
            <a:r>
              <a:rPr b="0" sz="1000">
                <a:solidFill>
                  <a:srgbClr val="F8FAFC"/>
                </a:solidFill>
                <a:latin typeface="Arial"/>
              </a:rPr>
              <a:t>Demonstrated transition from experimental chat loops to a production-grade, stateful equity research platform.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Institutional Governance: </a:t>
            </a:r>
            <a:r>
              <a:rPr b="0" sz="1000">
                <a:solidFill>
                  <a:srgbClr val="F8FAFC"/>
                </a:solidFill>
                <a:latin typeface="Arial"/>
              </a:rPr>
              <a:t>Zero unverified AI dissemination achieved via mandatory human review gate and audit certification.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Speed &amp; Cost Superiority: </a:t>
            </a:r>
            <a:r>
              <a:rPr b="0" sz="1000">
                <a:solidFill>
                  <a:srgbClr val="F8FAFC"/>
                </a:solidFill>
                <a:latin typeface="Arial"/>
              </a:rPr>
              <a:t>Over 45% faster execution and 95%+ operational cost reduction compared to legacy analyst workflows.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Audited Data Parity: </a:t>
            </a:r>
            <a:r>
              <a:rPr b="0" sz="1000">
                <a:solidFill>
                  <a:srgbClr val="F8FAFC"/>
                </a:solidFill>
                <a:latin typeface="Arial"/>
              </a:rPr>
              <a:t>Grounded corporate 10-K extraction validated against official SEC EDGAR filings.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  <a:latin typeface="Helvetica"/>
              </a:rPr>
              <a:t>•  Production-Ready Deployment: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containerized Docker architecture running smoothly on AWS EC2.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28800"/>
            <a:ext cx="4773168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50" b="1">
                <a:solidFill>
                  <a:srgbClr val="38BDF8"/>
                </a:solidFill>
                <a:latin typeface="Helvetica"/>
              </a:defRPr>
            </a:pPr>
            <a:r>
              <a:t>Future Roadmap &amp; Defense Q&amp;A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Multi-Modal Document Parsing: </a:t>
            </a:r>
            <a:r>
              <a:rPr b="0" sz="1000">
                <a:solidFill>
                  <a:srgbClr val="F8FAFC"/>
                </a:solidFill>
                <a:latin typeface="Arial"/>
              </a:rPr>
              <a:t>Integrating vision models for deep chart, footnote, and non-standard accounting schedule parsing.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Live Earnings Call Audio: </a:t>
            </a:r>
            <a:r>
              <a:rPr b="0" sz="1000">
                <a:solidFill>
                  <a:srgbClr val="F8FAFC"/>
                </a:solidFill>
                <a:latin typeface="Arial"/>
              </a:rPr>
              <a:t>Automated transcription and sentiment extraction from quarterly executive earnings calls.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Enterprise RBAC &amp; SSO: </a:t>
            </a:r>
            <a:r>
              <a:rPr b="0" sz="1000">
                <a:solidFill>
                  <a:srgbClr val="F8FAFC"/>
                </a:solidFill>
                <a:latin typeface="Arial"/>
              </a:rPr>
              <a:t>Multi-tenant role-based access control and Single Sign-On for enterprise asset managers.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Multi-Asset Coverage: </a:t>
            </a:r>
            <a:r>
              <a:rPr b="0" sz="1000">
                <a:solidFill>
                  <a:srgbClr val="F8FAFC"/>
                </a:solidFill>
                <a:latin typeface="Arial"/>
              </a:rPr>
              <a:t>Extending valuation models to fixed-income debt instruments, ETFs, and global indices.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  <a:latin typeface="Helvetica"/>
              </a:rPr>
              <a:t>•  Ready for Live Demonstration: </a:t>
            </a:r>
            <a:r>
              <a:rPr b="0" sz="1000">
                <a:solidFill>
                  <a:srgbClr val="F8FAFC"/>
                </a:solidFill>
                <a:latin typeface="Arial"/>
              </a:rPr>
              <a:t>The team welcomes questions from the examination committee.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